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professors and peers.</a:t>
            </a:r>
          </a:p>
          <a:p>
            <a:r>
              <a:t>Today, we present our AI-Based Emergency Evacuation Route Planner, an interactive project demonstrating how artificial intelligence graph search algorithms can calculate safe evacuation routes and automatically navigate around dynamic road hazards.</a:t>
            </a:r>
          </a:p>
          <a:p>
            <a:r>
              <a:t>This is an educational prototype developed using Python, NetworkX, and Streamlit to evaluate the real-world trade-offs between hop count and travel distance.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emergencies, every minute counts. Standard consumer navigation apps are designed for normal commutes, not life-threatening disaster zones where entire roads can become impassable without notice.</a:t>
            </a:r>
          </a:p>
          <a:p>
            <a:r>
              <a:t>This project explores how AI pathfinding can model road networks and dynamically guide evacuees to safety, preventing bottlenecks and accounting for real-time closures.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designing an evacuation system, we face three major technical hurdles:</a:t>
            </a:r>
          </a:p>
          <a:p>
            <a:r>
              <a:t>First, handling unpredictable two-way road closures without breaking the original graph.</a:t>
            </a:r>
          </a:p>
          <a:p>
            <a:r>
              <a:t>Second, understanding that fewer turns or hops does not mean a shorter physical escape route.</a:t>
            </a:r>
          </a:p>
          <a:p>
            <a:r>
              <a:t>And third, safely alerting evacuees when a shelter has become completely cut off, advising them to seek shelter in place.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was not just to write algorithms on paper, but to build an end-to-end working system:</a:t>
            </a:r>
          </a:p>
          <a:p>
            <a:r>
              <a:t>Modeling the roads, coding three classic AI search algorithms from scratch, testing them under road hazard conditions, and visualizing everything on an interactive map.</a:t>
            </a:r>
          </a:p>
          <a:p>
            <a:r>
              <a:t>We also clearly define our project scope as an academic algorithmic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chose Python for its rich scientific ecosystem. NetworkX represents our intersections and roads; Python's built-in heapq and collections provide efficient priority queues and FIFO buffers; and Streamlit paired with Folium lets us deliver a polished web interface running entirely on free OpenStreetMap tiles without any third-party API keys or subscription fees.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code follows a clean, modular structure.</a:t>
            </a:r>
          </a:p>
          <a:p>
            <a:r>
              <a:t>The user selects origin, destination, and any blocked roads in app.py.</a:t>
            </a:r>
          </a:p>
          <a:p>
            <a:r>
              <a:t>The system clones the graph from road_network.py, removes blocked roads bidirectionally in evacuation_simulator.py, executes UCS from route_algorithms.py, and renders the updated route or unreachable alert.</a:t>
            </a:r>
          </a:p>
          <a:p>
            <a:r>
              <a:t>On the right, we display our live Streamlit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road network. Intersection A is the evacuation origin, and Intersection F is the safe shelter.</a:t>
            </a:r>
          </a:p>
          <a:p>
            <a:r>
              <a:t>Notice that roads have different distance values: for example, the direct road from C to E is 10 units, while going through B and D provides shorter individual segments.</a:t>
            </a:r>
          </a:p>
          <a:p>
            <a:r>
              <a:t>Edges are bidirectional, so closing Road B-D stops traffic in both directions.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the core computer science insight of our project:</a:t>
            </a:r>
          </a:p>
          <a:p>
            <a:r>
              <a:t>BFS finds the route with the fewest intersections (only 3 hops: A-B-D-F), but the total distance is 15 units.</a:t>
            </a:r>
          </a:p>
          <a:p>
            <a:r>
              <a:t>In contrast, UCS and A* explore slightly more intersections to find the path that is physically shortest—13 units (A-C-B-D-E-F).</a:t>
            </a:r>
          </a:p>
          <a:p>
            <a:r>
              <a:t>In an emergency evacuation, distance and travel time save lives, which proves why cost-sensitive search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 emergency occurs, users can select any road to block in the sidebar.</a:t>
            </a:r>
          </a:p>
          <a:p>
            <a:r>
              <a:t>Our simulator removes that road bidirectionally, immediately re-runs UCS, and renders the updated route in green while marking the blocked road in dashed red.</a:t>
            </a:r>
          </a:p>
          <a:p>
            <a:r>
              <a:t>The user immediately sees the detour distance impact (e.g. +2 units when B-D is closed).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verified our system across five strict test scenarios.</a:t>
            </a:r>
          </a:p>
          <a:p>
            <a:r>
              <a:t>When road B-D was blocked, the system automatically found a 15-unit detour.</a:t>
            </a:r>
          </a:p>
          <a:p>
            <a:r>
              <a:t>When both entrances to shelter F were blocked in Scenario 4, the system immediately alerted the user that the destination was unreachable rather than crashing or freezing.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our prototype effectively demonstrates AI search and rerouting, it has limitations: the coordinates are simulated and roads are currently modeled as either fully open or fully closed.</a:t>
            </a:r>
          </a:p>
          <a:p>
            <a:r>
              <a:t>In future work, we plan to connect this logic to live OpenStreetMap data using OSMnx, incorporate multi-shelter optimization, and model multi-vehicle traffic flow.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demonstrated how graph theory and AI search algorithms can be brought together into a responsive, visual dashboard.</a:t>
            </a:r>
          </a:p>
          <a:p>
            <a:r>
              <a:t>Thank you for your time, and we would be happy to answer any questions or demonstrate the live dashboard.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1148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9144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005840"/>
            <a:ext cx="10362895" cy="2560320"/>
          </a:xfrm>
          <a:prstGeom prst="rect">
            <a:avLst/>
          </a:prstGeom>
          <a:noFill/>
        </p:spPr>
        <p:txBody>
          <a:bodyPr wrap="square">
            <a:spAutoFit/>
          </a:bodyPr>
          <a:lstStyle/>
          <a:p>
            <a:pPr>
              <a:defRPr sz="1200" b="1">
                <a:solidFill>
                  <a:srgbClr val="3182CE"/>
                </a:solidFill>
                <a:latin typeface="Calibri"/>
              </a:defRPr>
            </a:pPr>
            <a:r>
              <a:t>ARTIFICIAL INTELLIGENCE &amp; GRAPH THEORY PROJECT</a:t>
            </a:r>
          </a:p>
          <a:p>
            <a:pPr>
              <a:defRPr sz="3600" b="1">
                <a:solidFill>
                  <a:srgbClr val="FFFFFF"/>
                </a:solidFill>
                <a:latin typeface="Calibri"/>
              </a:defRPr>
            </a:pPr>
            <a:r>
              <a:t>AI-Based Emergency Evacuation</a:t>
            </a:r>
            <a:br/>
            <a:r>
              <a:t>Route Planner</a:t>
            </a:r>
          </a:p>
          <a:p>
            <a:pPr>
              <a:defRPr sz="1500">
                <a:solidFill>
                  <a:srgbClr val="E2E8F0"/>
                </a:solidFill>
                <a:latin typeface="Calibri"/>
              </a:defRPr>
            </a:pPr>
            <a:r>
              <a:t>Graph-Theoretic Pathfinding &amp; Dynamic Hazard Rerouting Using Python, NetworkX, and Streamlit</a:t>
            </a:r>
          </a:p>
        </p:txBody>
      </p:sp>
      <p:sp>
        <p:nvSpPr>
          <p:cNvPr id="5" name="Rounded Rectangle 4"/>
          <p:cNvSpPr/>
          <p:nvPr/>
        </p:nvSpPr>
        <p:spPr>
          <a:xfrm>
            <a:off x="914400" y="4480560"/>
            <a:ext cx="10362895" cy="128016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617720"/>
            <a:ext cx="9814255" cy="1005840"/>
          </a:xfrm>
          <a:prstGeom prst="rect">
            <a:avLst/>
          </a:prstGeom>
          <a:noFill/>
        </p:spPr>
        <p:txBody>
          <a:bodyPr wrap="square">
            <a:spAutoFit/>
          </a:bodyPr>
          <a:lstStyle/>
          <a:p>
            <a:pPr>
              <a:defRPr sz="1300" b="1">
                <a:solidFill>
                  <a:srgbClr val="1A365D"/>
                </a:solidFill>
                <a:latin typeface="Calibri"/>
              </a:defRPr>
            </a:pPr>
            <a:r>
              <a:t>Presenter: Student Presentation  |  Department of Computer Science &amp; Engineering</a:t>
            </a:r>
          </a:p>
          <a:p>
            <a:pPr>
              <a:defRPr sz="1100">
                <a:solidFill>
                  <a:srgbClr val="2D3748"/>
                </a:solidFill>
                <a:latin typeface="Calibri"/>
              </a:defRPr>
            </a:pPr>
            <a:r>
              <a:t>Course: Artificial Intelligence &amp; Autonomous Systems  |  Academic Year: 2026</a:t>
            </a:r>
          </a:p>
        </p:txBody>
      </p:sp>
      <p:sp>
        <p:nvSpPr>
          <p:cNvPr id="7" name="TextBox 6"/>
          <p:cNvSpPr txBox="1"/>
          <p:nvPr/>
        </p:nvSpPr>
        <p:spPr>
          <a:xfrm>
            <a:off x="914400" y="5897880"/>
            <a:ext cx="10362895" cy="548640"/>
          </a:xfrm>
          <a:prstGeom prst="rect">
            <a:avLst/>
          </a:prstGeom>
          <a:noFill/>
        </p:spPr>
        <p:txBody>
          <a:bodyPr wrap="none">
            <a:spAutoFit/>
          </a:bodyPr>
          <a:lstStyle/>
          <a:p>
            <a:pPr>
              <a:defRPr sz="950" i="1">
                <a:solidFill>
                  <a:srgbClr val="718096"/>
                </a:solidFill>
                <a:latin typeface="Calibri"/>
              </a:defRPr>
            </a:pPr>
            <a:r>
              <a:t>⚠️ Academic Disclaimer: This project is an educational, algorithmic simulation using synthetic coordinates. It is not intended or certified for real-world emergency deployment.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Introduction &amp; Motivation</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02</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63040"/>
            <a:ext cx="3328416" cy="45720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45920"/>
            <a:ext cx="2962656" cy="4206240"/>
          </a:xfrm>
          <a:prstGeom prst="rect">
            <a:avLst/>
          </a:prstGeom>
          <a:noFill/>
        </p:spPr>
        <p:txBody>
          <a:bodyPr wrap="square">
            <a:spAutoFit/>
          </a:bodyPr>
          <a:lstStyle/>
          <a:p>
            <a:pPr>
              <a:defRPr sz="1600" b="1">
                <a:solidFill>
                  <a:srgbClr val="1A365D"/>
                </a:solidFill>
                <a:latin typeface="Calibri"/>
              </a:defRPr>
            </a:pPr>
            <a:r>
              <a:t>🚨 Disaster Realities</a:t>
            </a:r>
          </a:p>
          <a:p>
            <a:pPr>
              <a:defRPr sz="1100">
                <a:solidFill>
                  <a:srgbClr val="2D3748"/>
                </a:solidFill>
                <a:latin typeface="Calibri"/>
              </a:defRPr>
            </a:pPr>
            <a:r>
              <a:t>• Natural and human-made disasters (wildfires, flash floods, structural damage) spread unpredictably.</a:t>
            </a:r>
          </a:p>
          <a:p>
            <a:pPr>
              <a:defRPr sz="1100">
                <a:solidFill>
                  <a:srgbClr val="2D3748"/>
                </a:solidFill>
                <a:latin typeface="Calibri"/>
              </a:defRPr>
            </a:pPr>
            <a:r>
              <a:t>• Primary escape routes can be blocked in seconds by debris or fire fronts.</a:t>
            </a:r>
          </a:p>
          <a:p>
            <a:pPr>
              <a:defRPr sz="1100">
                <a:solidFill>
                  <a:srgbClr val="2D3748"/>
                </a:solidFill>
                <a:latin typeface="Calibri"/>
              </a:defRPr>
            </a:pPr>
            <a:r>
              <a:t>• Evacuees need rapid, clear, reliable instructions to reach safe evacuation shelters.</a:t>
            </a:r>
          </a:p>
          <a:p>
            <a:pPr>
              <a:defRPr sz="1100">
                <a:solidFill>
                  <a:srgbClr val="2D3748"/>
                </a:solidFill>
                <a:latin typeface="Calibri"/>
              </a:defRPr>
            </a:pPr>
            <a:r>
              <a:t>• Panic and confusion can turn manageable evacuations into gridlock.</a:t>
            </a:r>
          </a:p>
        </p:txBody>
      </p:sp>
      <p:sp>
        <p:nvSpPr>
          <p:cNvPr id="11" name="Rounded Rectangle 10"/>
          <p:cNvSpPr/>
          <p:nvPr/>
        </p:nvSpPr>
        <p:spPr>
          <a:xfrm>
            <a:off x="4425696" y="1463040"/>
            <a:ext cx="3328416" cy="45720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645920"/>
            <a:ext cx="2962656" cy="4206240"/>
          </a:xfrm>
          <a:prstGeom prst="rect">
            <a:avLst/>
          </a:prstGeom>
          <a:noFill/>
        </p:spPr>
        <p:txBody>
          <a:bodyPr wrap="square">
            <a:spAutoFit/>
          </a:bodyPr>
          <a:lstStyle/>
          <a:p>
            <a:pPr>
              <a:defRPr sz="1600" b="1">
                <a:solidFill>
                  <a:srgbClr val="1A365D"/>
                </a:solidFill>
                <a:latin typeface="Calibri"/>
              </a:defRPr>
            </a:pPr>
            <a:r>
              <a:t>📍 Consumer Navigation Gaps</a:t>
            </a:r>
          </a:p>
          <a:p>
            <a:pPr>
              <a:defRPr sz="1100">
                <a:solidFill>
                  <a:srgbClr val="2D3748"/>
                </a:solidFill>
                <a:latin typeface="Calibri"/>
              </a:defRPr>
            </a:pPr>
            <a:r>
              <a:t>• Conventional GPS systems optimize for routine daily traffic and fuel economy, not life-threatening hazards.</a:t>
            </a:r>
          </a:p>
          <a:p>
            <a:pPr>
              <a:defRPr sz="1100">
                <a:solidFill>
                  <a:srgbClr val="2D3748"/>
                </a:solidFill>
                <a:latin typeface="Calibri"/>
              </a:defRPr>
            </a:pPr>
            <a:r>
              <a:t>• They assume two-way streets remain navigable unless official road authorities update slow database records.</a:t>
            </a:r>
          </a:p>
          <a:p>
            <a:pPr>
              <a:defRPr sz="1100">
                <a:solidFill>
                  <a:srgbClr val="2D3748"/>
                </a:solidFill>
                <a:latin typeface="Calibri"/>
              </a:defRPr>
            </a:pPr>
            <a:r>
              <a:t>• Commercial systems fail to explicitly calculate safe detours when emergency corridors collapse simultaneously.</a:t>
            </a:r>
          </a:p>
          <a:p>
            <a:pPr>
              <a:defRPr sz="1100">
                <a:solidFill>
                  <a:srgbClr val="2D3748"/>
                </a:solidFill>
                <a:latin typeface="Calibri"/>
              </a:defRPr>
            </a:pPr>
            <a:r>
              <a:t>• Lack of dynamic simulation makes disaster response training difficult.</a:t>
            </a:r>
          </a:p>
        </p:txBody>
      </p:sp>
      <p:sp>
        <p:nvSpPr>
          <p:cNvPr id="13" name="Rounded Rectangle 12"/>
          <p:cNvSpPr/>
          <p:nvPr/>
        </p:nvSpPr>
        <p:spPr>
          <a:xfrm>
            <a:off x="8119872" y="1463040"/>
            <a:ext cx="3328416" cy="45720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645920"/>
            <a:ext cx="2962656" cy="4206240"/>
          </a:xfrm>
          <a:prstGeom prst="rect">
            <a:avLst/>
          </a:prstGeom>
          <a:noFill/>
        </p:spPr>
        <p:txBody>
          <a:bodyPr wrap="square">
            <a:spAutoFit/>
          </a:bodyPr>
          <a:lstStyle/>
          <a:p>
            <a:pPr>
              <a:defRPr sz="1600" b="1">
                <a:solidFill>
                  <a:srgbClr val="1A365D"/>
                </a:solidFill>
                <a:latin typeface="Calibri"/>
              </a:defRPr>
            </a:pPr>
            <a:r>
              <a:t>⚡ The AI Advantage</a:t>
            </a:r>
          </a:p>
          <a:p>
            <a:pPr>
              <a:defRPr sz="1100">
                <a:solidFill>
                  <a:srgbClr val="2D3748"/>
                </a:solidFill>
                <a:latin typeface="Calibri"/>
              </a:defRPr>
            </a:pPr>
            <a:r>
              <a:t>• Graph Search Algorithms evaluate road networks mathematically in milliseconds.</a:t>
            </a:r>
          </a:p>
          <a:p>
            <a:pPr>
              <a:defRPr sz="1100">
                <a:solidFill>
                  <a:srgbClr val="2D3748"/>
                </a:solidFill>
                <a:latin typeface="Calibri"/>
              </a:defRPr>
            </a:pPr>
            <a:r>
              <a:t>• Guarantees globally optimal distance paths using cost-sensitive search (UCS/A*).</a:t>
            </a:r>
          </a:p>
          <a:p>
            <a:pPr>
              <a:defRPr sz="1100">
                <a:solidFill>
                  <a:srgbClr val="2D3748"/>
                </a:solidFill>
                <a:latin typeface="Calibri"/>
              </a:defRPr>
            </a:pPr>
            <a:r>
              <a:t>• Enables instant bidirectional road closure removal and automated detour calculation.</a:t>
            </a:r>
          </a:p>
          <a:p>
            <a:pPr>
              <a:defRPr sz="1100">
                <a:solidFill>
                  <a:srgbClr val="2D3748"/>
                </a:solidFill>
                <a:latin typeface="Calibri"/>
              </a:defRPr>
            </a:pPr>
            <a:r>
              <a:t>• Provides clear visual feedback through modern web dashboards and interactive cartography.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Problem Statement: Emergency Routing Challenges</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03</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10728655" cy="13716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17320"/>
            <a:ext cx="109728" cy="1371600"/>
          </a:xfrm>
          <a:prstGeom prst="rect">
            <a:avLst/>
          </a:prstGeom>
          <a:solidFill>
            <a:srgbClr val="E5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554480"/>
            <a:ext cx="10271455" cy="1097280"/>
          </a:xfrm>
          <a:prstGeom prst="rect">
            <a:avLst/>
          </a:prstGeom>
          <a:noFill/>
        </p:spPr>
        <p:txBody>
          <a:bodyPr wrap="square">
            <a:spAutoFit/>
          </a:bodyPr>
          <a:lstStyle/>
          <a:p>
            <a:pPr>
              <a:defRPr sz="1500" b="1">
                <a:solidFill>
                  <a:srgbClr val="1A365D"/>
                </a:solidFill>
                <a:latin typeface="Calibri"/>
              </a:defRPr>
            </a:pPr>
            <a:r>
              <a:t>1. Dynamic &amp; Unpredictable Hazard Spread</a:t>
            </a:r>
          </a:p>
          <a:p>
            <a:pPr>
              <a:defRPr sz="1100">
                <a:solidFill>
                  <a:srgbClr val="2D3748"/>
                </a:solidFill>
                <a:latin typeface="Calibri"/>
              </a:defRPr>
            </a:pPr>
            <a:r>
              <a:t>Disaster phenomena (flood crests, active fire fronts, hazardous gas plumes) render primary roadways impassable in both directions rapidly. Navigation software must support immediate bidirectional edge deletion without corrupting the baseline road topology.</a:t>
            </a:r>
          </a:p>
        </p:txBody>
      </p:sp>
      <p:sp>
        <p:nvSpPr>
          <p:cNvPr id="12" name="Rounded Rectangle 11"/>
          <p:cNvSpPr/>
          <p:nvPr/>
        </p:nvSpPr>
        <p:spPr>
          <a:xfrm>
            <a:off x="731520" y="3017520"/>
            <a:ext cx="10728655" cy="13716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017520"/>
            <a:ext cx="109728" cy="1371600"/>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154680"/>
            <a:ext cx="10271455" cy="1097280"/>
          </a:xfrm>
          <a:prstGeom prst="rect">
            <a:avLst/>
          </a:prstGeom>
          <a:noFill/>
        </p:spPr>
        <p:txBody>
          <a:bodyPr wrap="square">
            <a:spAutoFit/>
          </a:bodyPr>
          <a:lstStyle/>
          <a:p>
            <a:pPr>
              <a:defRPr sz="1500" b="1">
                <a:solidFill>
                  <a:srgbClr val="1A365D"/>
                </a:solidFill>
                <a:latin typeface="Calibri"/>
              </a:defRPr>
            </a:pPr>
            <a:r>
              <a:t>2. The 'Hop-Count vs. Distance' Dilemma</a:t>
            </a:r>
          </a:p>
          <a:p>
            <a:pPr>
              <a:defRPr sz="1100">
                <a:solidFill>
                  <a:srgbClr val="2D3748"/>
                </a:solidFill>
                <a:latin typeface="Calibri"/>
              </a:defRPr>
            </a:pPr>
            <a:r>
              <a:t>Naive algorithms like Breadth-First Search (BFS) minimize the number of intersections (hops). However, in spatial road networks, fewer intersections often mean significantly longer physical travel distances, putting evacuees at higher risk.</a:t>
            </a:r>
          </a:p>
        </p:txBody>
      </p:sp>
      <p:sp>
        <p:nvSpPr>
          <p:cNvPr id="15" name="Rounded Rectangle 14"/>
          <p:cNvSpPr/>
          <p:nvPr/>
        </p:nvSpPr>
        <p:spPr>
          <a:xfrm>
            <a:off x="731520" y="4617720"/>
            <a:ext cx="10728655" cy="13716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617720"/>
            <a:ext cx="109728" cy="13716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754880"/>
            <a:ext cx="10271455" cy="1097280"/>
          </a:xfrm>
          <a:prstGeom prst="rect">
            <a:avLst/>
          </a:prstGeom>
          <a:noFill/>
        </p:spPr>
        <p:txBody>
          <a:bodyPr wrap="square">
            <a:spAutoFit/>
          </a:bodyPr>
          <a:lstStyle/>
          <a:p>
            <a:pPr>
              <a:defRPr sz="1500" b="1">
                <a:solidFill>
                  <a:srgbClr val="1A365D"/>
                </a:solidFill>
                <a:latin typeface="Calibri"/>
              </a:defRPr>
            </a:pPr>
            <a:r>
              <a:t>3. Destination Isolation &amp; Partition Failures</a:t>
            </a:r>
          </a:p>
          <a:p>
            <a:pPr>
              <a:defRPr sz="1100">
                <a:solidFill>
                  <a:srgbClr val="2D3748"/>
                </a:solidFill>
                <a:latin typeface="Calibri"/>
              </a:defRPr>
            </a:pPr>
            <a:r>
              <a:t>If hazard spread severs every access road into a shelter, conventional search routines can loop indefinitely or crash. An emergency system must reliably detect network partitions and immediately report an unreachable status with shelter-in-place instructions.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Project Objectives &amp; Scope</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04</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6217920" cy="4663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1600200"/>
            <a:ext cx="5669280" cy="4297680"/>
          </a:xfrm>
          <a:prstGeom prst="rect">
            <a:avLst/>
          </a:prstGeom>
          <a:noFill/>
        </p:spPr>
        <p:txBody>
          <a:bodyPr wrap="square">
            <a:spAutoFit/>
          </a:bodyPr>
          <a:lstStyle/>
          <a:p>
            <a:pPr>
              <a:defRPr sz="1600" b="1">
                <a:solidFill>
                  <a:srgbClr val="1A365D"/>
                </a:solidFill>
                <a:latin typeface="Calibri"/>
              </a:defRPr>
            </a:pPr>
            <a:r>
              <a:t>🎯 Core Technical Objectives</a:t>
            </a:r>
          </a:p>
          <a:p>
            <a:pPr>
              <a:defRPr sz="1200" b="1">
                <a:solidFill>
                  <a:srgbClr val="3182CE"/>
                </a:solidFill>
                <a:latin typeface="Calibri"/>
              </a:defRPr>
            </a:pPr>
            <a:r>
              <a:t>✔ Graph Network Modeling</a:t>
            </a:r>
          </a:p>
          <a:p>
            <a:pPr>
              <a:defRPr sz="1050">
                <a:solidFill>
                  <a:srgbClr val="2D3748"/>
                </a:solidFill>
                <a:latin typeface="Calibri"/>
              </a:defRPr>
            </a:pPr>
            <a:r>
              <a:t>   Model a simulated road network with 6 intersections and 9 bidirectional distance-weighted roads using NetworkX.</a:t>
            </a:r>
          </a:p>
          <a:p>
            <a:pPr>
              <a:defRPr sz="1200" b="1">
                <a:solidFill>
                  <a:srgbClr val="3182CE"/>
                </a:solidFill>
                <a:latin typeface="Calibri"/>
              </a:defRPr>
            </a:pPr>
            <a:r>
              <a:t>✔ Multi-Algorithm Comparison</a:t>
            </a:r>
          </a:p>
          <a:p>
            <a:pPr>
              <a:defRPr sz="1050">
                <a:solidFill>
                  <a:srgbClr val="2D3748"/>
                </a:solidFill>
                <a:latin typeface="Calibri"/>
              </a:defRPr>
            </a:pPr>
            <a:r>
              <a:t>   Implement Breadth-First Search (BFS), Uniform Cost Search (UCS), and A* Search from scratch in Python.</a:t>
            </a:r>
          </a:p>
          <a:p>
            <a:pPr>
              <a:defRPr sz="1200" b="1">
                <a:solidFill>
                  <a:srgbClr val="3182CE"/>
                </a:solidFill>
                <a:latin typeface="Calibri"/>
              </a:defRPr>
            </a:pPr>
            <a:r>
              <a:t>✔ Dynamic Hazard Rerouting</a:t>
            </a:r>
          </a:p>
          <a:p>
            <a:pPr>
              <a:defRPr sz="1050">
                <a:solidFill>
                  <a:srgbClr val="2D3748"/>
                </a:solidFill>
                <a:latin typeface="Calibri"/>
              </a:defRPr>
            </a:pPr>
            <a:r>
              <a:t>   Enable bidirectional road closures and automatically compute optimal detour routes with detour quantification.</a:t>
            </a:r>
          </a:p>
          <a:p>
            <a:pPr>
              <a:defRPr sz="1200" b="1">
                <a:solidFill>
                  <a:srgbClr val="3182CE"/>
                </a:solidFill>
                <a:latin typeface="Calibri"/>
              </a:defRPr>
            </a:pPr>
            <a:r>
              <a:t>✔ Interactive Web Dashboard</a:t>
            </a:r>
          </a:p>
          <a:p>
            <a:pPr>
              <a:defRPr sz="1050">
                <a:solidFill>
                  <a:srgbClr val="2D3748"/>
                </a:solidFill>
                <a:latin typeface="Calibri"/>
              </a:defRPr>
            </a:pPr>
            <a:r>
              <a:t>   Develop a responsive Streamlit web application with real-time UI controls and metrics.</a:t>
            </a:r>
          </a:p>
          <a:p>
            <a:pPr>
              <a:defRPr sz="1200" b="1">
                <a:solidFill>
                  <a:srgbClr val="3182CE"/>
                </a:solidFill>
                <a:latin typeface="Calibri"/>
              </a:defRPr>
            </a:pPr>
            <a:r>
              <a:t>✔ Geospatial Visualization</a:t>
            </a:r>
          </a:p>
          <a:p>
            <a:pPr>
              <a:defRPr sz="1050">
                <a:solidFill>
                  <a:srgbClr val="2D3748"/>
                </a:solidFill>
                <a:latin typeface="Calibri"/>
              </a:defRPr>
            </a:pPr>
            <a:r>
              <a:t>   Render simulated road networks and evacuation corridors using Folium and free OpenStreetMap cartography.</a:t>
            </a:r>
          </a:p>
        </p:txBody>
      </p:sp>
      <p:sp>
        <p:nvSpPr>
          <p:cNvPr id="11" name="Rounded Rectangle 10"/>
          <p:cNvSpPr/>
          <p:nvPr/>
        </p:nvSpPr>
        <p:spPr>
          <a:xfrm>
            <a:off x="7223760" y="1417320"/>
            <a:ext cx="4114800" cy="466344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600200"/>
            <a:ext cx="3657600" cy="4297680"/>
          </a:xfrm>
          <a:prstGeom prst="rect">
            <a:avLst/>
          </a:prstGeom>
          <a:noFill/>
        </p:spPr>
        <p:txBody>
          <a:bodyPr wrap="square">
            <a:spAutoFit/>
          </a:bodyPr>
          <a:lstStyle/>
          <a:p>
            <a:pPr>
              <a:defRPr sz="1600" b="1">
                <a:solidFill>
                  <a:srgbClr val="1A365D"/>
                </a:solidFill>
                <a:latin typeface="Calibri"/>
              </a:defRPr>
            </a:pPr>
            <a:r>
              <a:t>📌 Project Scope &amp; Boundary</a:t>
            </a:r>
          </a:p>
          <a:p>
            <a:pPr>
              <a:defRPr sz="1100">
                <a:solidFill>
                  <a:srgbClr val="2D3748"/>
                </a:solidFill>
                <a:latin typeface="Calibri"/>
              </a:defRPr>
            </a:pPr>
            <a:r>
              <a:t>• [In-Scope] Pure algorithmic comparison, graph-theoretic rerouting, non-destructive graph copying, and educational web UI.</a:t>
            </a:r>
          </a:p>
          <a:p>
            <a:pPr>
              <a:defRPr sz="1100">
                <a:solidFill>
                  <a:srgbClr val="2D3748"/>
                </a:solidFill>
                <a:latin typeface="Calibri"/>
              </a:defRPr>
            </a:pPr>
            <a:r>
              <a:t>• [In-Scope] Robust edge case detection (unreachable destinations, isolated partition queries).</a:t>
            </a:r>
          </a:p>
          <a:p>
            <a:pPr>
              <a:defRPr sz="1100">
                <a:solidFill>
                  <a:srgbClr val="2D3748"/>
                </a:solidFill>
                <a:latin typeface="Calibri"/>
              </a:defRPr>
            </a:pPr>
            <a:r>
              <a:t>• [Out-of-Scope] Real-world GPS telemetry ingestion, live vehicular sensor feeds, and production multi-agency emergency dispatch.</a:t>
            </a:r>
          </a:p>
          <a:p>
            <a:pPr>
              <a:defRPr sz="1100">
                <a:solidFill>
                  <a:srgbClr val="2D3748"/>
                </a:solidFill>
                <a:latin typeface="Calibri"/>
              </a:defRPr>
            </a:pPr>
            <a:r>
              <a:t>• [Academic Role] Designed as an algorithmic demonstration prototype for computer science coursework and viva presentation.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Technology Stack &amp; Architecture Tools</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05</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graphicFrame>
        <p:nvGraphicFramePr>
          <p:cNvPr id="9" name="Table 8"/>
          <p:cNvGraphicFramePr>
            <a:graphicFrameLocks noGrp="1"/>
          </p:cNvGraphicFramePr>
          <p:nvPr/>
        </p:nvGraphicFramePr>
        <p:xfrm>
          <a:off x="731520" y="1463040"/>
          <a:ext cx="10728655" cy="3931920"/>
        </p:xfrm>
        <a:graphic>
          <a:graphicData uri="http://schemas.openxmlformats.org/drawingml/2006/table">
            <a:tbl>
              <a:tblPr firstRow="1" bandRow="1">
                <a:tableStyleId>{5C22544A-7EE6-4342-B048-85BDC9FD1C3A}</a:tableStyleId>
              </a:tblPr>
              <a:tblGrid>
                <a:gridCol w="2560320"/>
                <a:gridCol w="4023360"/>
                <a:gridCol w="4144975"/>
              </a:tblGrid>
              <a:tr h="655320">
                <a:tc>
                  <a:txBody>
                    <a:bodyPr/>
                    <a:lstStyle/>
                    <a:p>
                      <a:pPr>
                        <a:defRPr sz="1100" b="1">
                          <a:solidFill>
                            <a:srgbClr val="FFFFFF"/>
                          </a:solidFill>
                          <a:latin typeface="Calibri"/>
                        </a:defRPr>
                      </a:pPr>
                      <a:r>
                        <a:t>Technology</a:t>
                      </a:r>
                    </a:p>
                  </a:txBody>
                  <a:tcPr anchor="ctr">
                    <a:solidFill>
                      <a:srgbClr val="1A365D"/>
                    </a:solidFill>
                  </a:tcPr>
                </a:tc>
                <a:tc>
                  <a:txBody>
                    <a:bodyPr/>
                    <a:lstStyle/>
                    <a:p>
                      <a:pPr>
                        <a:defRPr sz="1100" b="1">
                          <a:solidFill>
                            <a:srgbClr val="FFFFFF"/>
                          </a:solidFill>
                          <a:latin typeface="Calibri"/>
                        </a:defRPr>
                      </a:pPr>
                      <a:r>
                        <a:t>Role in System</a:t>
                      </a:r>
                    </a:p>
                  </a:txBody>
                  <a:tcPr anchor="ctr">
                    <a:solidFill>
                      <a:srgbClr val="1A365D"/>
                    </a:solidFill>
                  </a:tcPr>
                </a:tc>
                <a:tc>
                  <a:txBody>
                    <a:bodyPr/>
                    <a:lstStyle/>
                    <a:p>
                      <a:pPr>
                        <a:defRPr sz="1100" b="1">
                          <a:solidFill>
                            <a:srgbClr val="FFFFFF"/>
                          </a:solidFill>
                          <a:latin typeface="Calibri"/>
                        </a:defRPr>
                      </a:pPr>
                      <a:r>
                        <a:t>Engineering Advantage</a:t>
                      </a:r>
                    </a:p>
                  </a:txBody>
                  <a:tcPr anchor="ctr">
                    <a:solidFill>
                      <a:srgbClr val="1A365D"/>
                    </a:solidFill>
                  </a:tcPr>
                </a:tc>
              </a:tr>
              <a:tr h="655320">
                <a:tc>
                  <a:txBody>
                    <a:bodyPr/>
                    <a:lstStyle/>
                    <a:p>
                      <a:pPr>
                        <a:defRPr sz="1100">
                          <a:solidFill>
                            <a:srgbClr val="2D3748"/>
                          </a:solidFill>
                          <a:latin typeface="Calibri"/>
                        </a:defRPr>
                      </a:pPr>
                      <a:r>
                        <a:t>Python 3.15</a:t>
                      </a:r>
                    </a:p>
                  </a:txBody>
                  <a:tcPr anchor="ctr">
                    <a:solidFill>
                      <a:srgbClr val="F7FAFC"/>
                    </a:solidFill>
                  </a:tcPr>
                </a:tc>
                <a:tc>
                  <a:txBody>
                    <a:bodyPr/>
                    <a:lstStyle/>
                    <a:p>
                      <a:pPr>
                        <a:defRPr sz="1100">
                          <a:solidFill>
                            <a:srgbClr val="2D3748"/>
                          </a:solidFill>
                          <a:latin typeface="Calibri"/>
                        </a:defRPr>
                      </a:pPr>
                      <a:r>
                        <a:t>Core execution runtime and algorithmic logic</a:t>
                      </a:r>
                    </a:p>
                  </a:txBody>
                  <a:tcPr anchor="ctr">
                    <a:solidFill>
                      <a:srgbClr val="F7FAFC"/>
                    </a:solidFill>
                  </a:tcPr>
                </a:tc>
                <a:tc>
                  <a:txBody>
                    <a:bodyPr/>
                    <a:lstStyle/>
                    <a:p>
                      <a:pPr>
                        <a:defRPr sz="1100">
                          <a:solidFill>
                            <a:srgbClr val="2D3748"/>
                          </a:solidFill>
                          <a:latin typeface="Calibri"/>
                        </a:defRPr>
                      </a:pPr>
                      <a:r>
                        <a:t>Clean syntax, fast execution, rich data structures.</a:t>
                      </a:r>
                    </a:p>
                  </a:txBody>
                  <a:tcPr anchor="ctr">
                    <a:solidFill>
                      <a:srgbClr val="F7FAFC"/>
                    </a:solidFill>
                  </a:tcPr>
                </a:tc>
              </a:tr>
              <a:tr h="655320">
                <a:tc>
                  <a:txBody>
                    <a:bodyPr/>
                    <a:lstStyle/>
                    <a:p>
                      <a:pPr>
                        <a:defRPr sz="1100">
                          <a:solidFill>
                            <a:srgbClr val="2D3748"/>
                          </a:solidFill>
                          <a:latin typeface="Calibri"/>
                        </a:defRPr>
                      </a:pPr>
                      <a:r>
                        <a:t>NetworkX</a:t>
                      </a:r>
                    </a:p>
                  </a:txBody>
                  <a:tcPr anchor="ctr">
                    <a:solidFill>
                      <a:srgbClr val="FFFFFF"/>
                    </a:solidFill>
                  </a:tcPr>
                </a:tc>
                <a:tc>
                  <a:txBody>
                    <a:bodyPr/>
                    <a:lstStyle/>
                    <a:p>
                      <a:pPr>
                        <a:defRPr sz="1100">
                          <a:solidFill>
                            <a:srgbClr val="2D3748"/>
                          </a:solidFill>
                          <a:latin typeface="Calibri"/>
                        </a:defRPr>
                      </a:pPr>
                      <a:r>
                        <a:t>Graph data structures &amp; topological modeling</a:t>
                      </a:r>
                    </a:p>
                  </a:txBody>
                  <a:tcPr anchor="ctr">
                    <a:solidFill>
                      <a:srgbClr val="FFFFFF"/>
                    </a:solidFill>
                  </a:tcPr>
                </a:tc>
                <a:tc>
                  <a:txBody>
                    <a:bodyPr/>
                    <a:lstStyle/>
                    <a:p>
                      <a:pPr>
                        <a:defRPr sz="1100">
                          <a:solidFill>
                            <a:srgbClr val="2D3748"/>
                          </a:solidFill>
                          <a:latin typeface="Calibri"/>
                        </a:defRPr>
                      </a:pPr>
                      <a:r>
                        <a:t>Represents intersections as nodes and weighted roads as edges.</a:t>
                      </a:r>
                    </a:p>
                  </a:txBody>
                  <a:tcPr anchor="ctr">
                    <a:solidFill>
                      <a:srgbClr val="FFFFFF"/>
                    </a:solidFill>
                  </a:tcPr>
                </a:tc>
              </a:tr>
              <a:tr h="655320">
                <a:tc>
                  <a:txBody>
                    <a:bodyPr/>
                    <a:lstStyle/>
                    <a:p>
                      <a:pPr>
                        <a:defRPr sz="1100">
                          <a:solidFill>
                            <a:srgbClr val="2D3748"/>
                          </a:solidFill>
                          <a:latin typeface="Calibri"/>
                        </a:defRPr>
                      </a:pPr>
                      <a:r>
                        <a:t>Heapq &amp; Collections</a:t>
                      </a:r>
                    </a:p>
                  </a:txBody>
                  <a:tcPr anchor="ctr">
                    <a:solidFill>
                      <a:srgbClr val="F7FAFC"/>
                    </a:solidFill>
                  </a:tcPr>
                </a:tc>
                <a:tc>
                  <a:txBody>
                    <a:bodyPr/>
                    <a:lstStyle/>
                    <a:p>
                      <a:pPr>
                        <a:defRPr sz="1100">
                          <a:solidFill>
                            <a:srgbClr val="2D3748"/>
                          </a:solidFill>
                          <a:latin typeface="Calibri"/>
                        </a:defRPr>
                      </a:pPr>
                      <a:r>
                        <a:t>Priority queues (UCS, A*) and FIFO queues (BFS)</a:t>
                      </a:r>
                    </a:p>
                  </a:txBody>
                  <a:tcPr anchor="ctr">
                    <a:solidFill>
                      <a:srgbClr val="F7FAFC"/>
                    </a:solidFill>
                  </a:tcPr>
                </a:tc>
                <a:tc>
                  <a:txBody>
                    <a:bodyPr/>
                    <a:lstStyle/>
                    <a:p>
                      <a:pPr>
                        <a:defRPr sz="1100">
                          <a:solidFill>
                            <a:srgbClr val="2D3748"/>
                          </a:solidFill>
                          <a:latin typeface="Calibri"/>
                        </a:defRPr>
                      </a:pPr>
                      <a:r>
                        <a:t>Standard library efficiency: O(log V) priority queue pushes/pops.</a:t>
                      </a:r>
                    </a:p>
                  </a:txBody>
                  <a:tcPr anchor="ctr">
                    <a:solidFill>
                      <a:srgbClr val="F7FAFC"/>
                    </a:solidFill>
                  </a:tcPr>
                </a:tc>
              </a:tr>
              <a:tr h="655320">
                <a:tc>
                  <a:txBody>
                    <a:bodyPr/>
                    <a:lstStyle/>
                    <a:p>
                      <a:pPr>
                        <a:defRPr sz="1100">
                          <a:solidFill>
                            <a:srgbClr val="2D3748"/>
                          </a:solidFill>
                          <a:latin typeface="Calibri"/>
                        </a:defRPr>
                      </a:pPr>
                      <a:r>
                        <a:t>Streamlit</a:t>
                      </a:r>
                    </a:p>
                  </a:txBody>
                  <a:tcPr anchor="ctr">
                    <a:solidFill>
                      <a:srgbClr val="FFFFFF"/>
                    </a:solidFill>
                  </a:tcPr>
                </a:tc>
                <a:tc>
                  <a:txBody>
                    <a:bodyPr/>
                    <a:lstStyle/>
                    <a:p>
                      <a:pPr>
                        <a:defRPr sz="1100">
                          <a:solidFill>
                            <a:srgbClr val="2D3748"/>
                          </a:solidFill>
                          <a:latin typeface="Calibri"/>
                        </a:defRPr>
                      </a:pPr>
                      <a:r>
                        <a:t>Reactive web interface and UI controls</a:t>
                      </a:r>
                    </a:p>
                  </a:txBody>
                  <a:tcPr anchor="ctr">
                    <a:solidFill>
                      <a:srgbClr val="FFFFFF"/>
                    </a:solidFill>
                  </a:tcPr>
                </a:tc>
                <a:tc>
                  <a:txBody>
                    <a:bodyPr/>
                    <a:lstStyle/>
                    <a:p>
                      <a:pPr>
                        <a:defRPr sz="1100">
                          <a:solidFill>
                            <a:srgbClr val="2D3748"/>
                          </a:solidFill>
                          <a:latin typeface="Calibri"/>
                        </a:defRPr>
                      </a:pPr>
                      <a:r>
                        <a:t>Python-native dashboard with dynamic state management and instant reruns.</a:t>
                      </a:r>
                    </a:p>
                  </a:txBody>
                  <a:tcPr anchor="ctr">
                    <a:solidFill>
                      <a:srgbClr val="FFFFFF"/>
                    </a:solidFill>
                  </a:tcPr>
                </a:tc>
              </a:tr>
              <a:tr h="655320">
                <a:tc>
                  <a:txBody>
                    <a:bodyPr/>
                    <a:lstStyle/>
                    <a:p>
                      <a:pPr>
                        <a:defRPr sz="1100">
                          <a:solidFill>
                            <a:srgbClr val="2D3748"/>
                          </a:solidFill>
                          <a:latin typeface="Calibri"/>
                        </a:defRPr>
                      </a:pPr>
                      <a:r>
                        <a:t>Folium &amp; OpenStreetMap</a:t>
                      </a:r>
                    </a:p>
                  </a:txBody>
                  <a:tcPr anchor="ctr">
                    <a:solidFill>
                      <a:srgbClr val="F7FAFC"/>
                    </a:solidFill>
                  </a:tcPr>
                </a:tc>
                <a:tc>
                  <a:txBody>
                    <a:bodyPr/>
                    <a:lstStyle/>
                    <a:p>
                      <a:pPr>
                        <a:defRPr sz="1100">
                          <a:solidFill>
                            <a:srgbClr val="2D3748"/>
                          </a:solidFill>
                          <a:latin typeface="Calibri"/>
                        </a:defRPr>
                      </a:pPr>
                      <a:r>
                        <a:t>Geospatial mapping and route rendering</a:t>
                      </a:r>
                    </a:p>
                  </a:txBody>
                  <a:tcPr anchor="ctr">
                    <a:solidFill>
                      <a:srgbClr val="F7FAFC"/>
                    </a:solidFill>
                  </a:tcPr>
                </a:tc>
                <a:tc>
                  <a:txBody>
                    <a:bodyPr/>
                    <a:lstStyle/>
                    <a:p>
                      <a:pPr>
                        <a:defRPr sz="1100">
                          <a:solidFill>
                            <a:srgbClr val="2D3748"/>
                          </a:solidFill>
                          <a:latin typeface="Calibri"/>
                        </a:defRPr>
                      </a:pPr>
                      <a:r>
                        <a:t>Free, open-source cartography with zero API keys or external billing.</a:t>
                      </a:r>
                    </a:p>
                  </a:txBody>
                  <a:tcPr anchor="ctr">
                    <a:solidFill>
                      <a:srgbClr val="F7FAFC"/>
                    </a:solidFill>
                  </a:tcPr>
                </a:tc>
              </a:tr>
            </a:tbl>
          </a:graphicData>
        </a:graphic>
      </p:graphicFrame>
      <p:sp>
        <p:nvSpPr>
          <p:cNvPr id="10" name="Rounded Rectangle 9"/>
          <p:cNvSpPr/>
          <p:nvPr/>
        </p:nvSpPr>
        <p:spPr>
          <a:xfrm>
            <a:off x="731520" y="5577840"/>
            <a:ext cx="10728655" cy="731520"/>
          </a:xfrm>
          <a:prstGeom prst="roundRect">
            <a:avLst/>
          </a:prstGeom>
          <a:solidFill>
            <a:srgbClr val="FFFFFF"/>
          </a:solidFill>
          <a:ln w="1270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23560"/>
            <a:ext cx="10362895" cy="640080"/>
          </a:xfrm>
          <a:prstGeom prst="rect">
            <a:avLst/>
          </a:prstGeom>
          <a:noFill/>
        </p:spPr>
        <p:txBody>
          <a:bodyPr wrap="none">
            <a:spAutoFit/>
          </a:bodyPr>
          <a:lstStyle/>
          <a:p>
            <a:pPr>
              <a:defRPr sz="1100">
                <a:solidFill>
                  <a:srgbClr val="1A365D"/>
                </a:solidFill>
                <a:latin typeface="Calibri"/>
              </a:defRPr>
            </a:pPr>
            <a:r>
              <a:t>💡 Zero External Dependency Overhead: The complete solution runs entirely on standard open-source Python libraries with no paid API keys (such as Google Maps or Mapbox), making it completely reproducible.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System Architecture &amp; Execution Workflow</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06</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5120640"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4754880" cy="4389120"/>
          </a:xfrm>
          <a:prstGeom prst="rect">
            <a:avLst/>
          </a:prstGeom>
          <a:noFill/>
        </p:spPr>
        <p:txBody>
          <a:bodyPr wrap="square">
            <a:spAutoFit/>
          </a:bodyPr>
          <a:lstStyle/>
          <a:p>
            <a:pPr>
              <a:defRPr sz="1500" b="1">
                <a:solidFill>
                  <a:srgbClr val="1A365D"/>
                </a:solidFill>
                <a:latin typeface="Calibri"/>
              </a:defRPr>
            </a:pPr>
            <a:r>
              <a:t>📦 Modular Project Architecture</a:t>
            </a:r>
          </a:p>
          <a:p>
            <a:pPr>
              <a:defRPr sz="1150" b="1">
                <a:solidFill>
                  <a:srgbClr val="3182CE"/>
                </a:solidFill>
                <a:latin typeface="Calibri"/>
              </a:defRPr>
            </a:pPr>
            <a:r>
              <a:t>• road_network.py</a:t>
            </a:r>
          </a:p>
          <a:p>
            <a:pPr>
              <a:defRPr sz="1000">
                <a:solidFill>
                  <a:srgbClr val="2D3748"/>
                </a:solidFill>
                <a:latin typeface="Calibri"/>
              </a:defRPr>
            </a:pPr>
            <a:r>
              <a:t>  Base graph topology with 6 nodes (A-F), 9 weighted edges, and node roles.</a:t>
            </a:r>
          </a:p>
          <a:p>
            <a:pPr>
              <a:defRPr sz="1150" b="1">
                <a:solidFill>
                  <a:srgbClr val="3182CE"/>
                </a:solidFill>
                <a:latin typeface="Calibri"/>
              </a:defRPr>
            </a:pPr>
            <a:r>
              <a:t>• route_algorithms.py</a:t>
            </a:r>
          </a:p>
          <a:p>
            <a:pPr>
              <a:defRPr sz="1000">
                <a:solidFill>
                  <a:srgbClr val="2D3748"/>
                </a:solidFill>
                <a:latin typeface="Calibri"/>
              </a:defRPr>
            </a:pPr>
            <a:r>
              <a:t>  Pure algorithm implementations: BFS, UCS, and A* pathfinding.</a:t>
            </a:r>
          </a:p>
          <a:p>
            <a:pPr>
              <a:defRPr sz="1150" b="1">
                <a:solidFill>
                  <a:srgbClr val="3182CE"/>
                </a:solidFill>
                <a:latin typeface="Calibri"/>
              </a:defRPr>
            </a:pPr>
            <a:r>
              <a:t>• evacuation_simulator.py</a:t>
            </a:r>
          </a:p>
          <a:p>
            <a:pPr>
              <a:defRPr sz="1000">
                <a:solidFill>
                  <a:srgbClr val="2D3748"/>
                </a:solidFill>
                <a:latin typeface="Calibri"/>
              </a:defRPr>
            </a:pPr>
            <a:r>
              <a:t>  Graph cloning (.copy()), bidirectional road closure, and detour math.</a:t>
            </a:r>
          </a:p>
          <a:p>
            <a:pPr>
              <a:defRPr sz="1150" b="1">
                <a:solidFill>
                  <a:srgbClr val="3182CE"/>
                </a:solidFill>
                <a:latin typeface="Calibri"/>
              </a:defRPr>
            </a:pPr>
            <a:r>
              <a:t>• real_routing.py</a:t>
            </a:r>
          </a:p>
          <a:p>
            <a:pPr>
              <a:defRPr sz="1000">
                <a:solidFill>
                  <a:srgbClr val="2D3748"/>
                </a:solidFill>
                <a:latin typeface="Calibri"/>
              </a:defRPr>
            </a:pPr>
            <a:r>
              <a:t>  OpenStreetMap Nominatim geocoding and OSRM real road graph routing.</a:t>
            </a:r>
          </a:p>
          <a:p>
            <a:pPr>
              <a:defRPr sz="1150" b="1">
                <a:solidFill>
                  <a:srgbClr val="3182CE"/>
                </a:solidFill>
                <a:latin typeface="Calibri"/>
              </a:defRPr>
            </a:pPr>
            <a:r>
              <a:t>• multi_route_planner.py</a:t>
            </a:r>
          </a:p>
          <a:p>
            <a:pPr>
              <a:defRPr sz="1000">
                <a:solidFill>
                  <a:srgbClr val="2D3748"/>
                </a:solidFill>
                <a:latin typeface="Calibri"/>
              </a:defRPr>
            </a:pPr>
            <a:r>
              <a:t>  Generates distinct alternative routes, hazard avoidance, and nearest shelter.</a:t>
            </a:r>
          </a:p>
          <a:p>
            <a:pPr>
              <a:defRPr sz="1150" b="1">
                <a:solidFill>
                  <a:srgbClr val="3182CE"/>
                </a:solidFill>
                <a:latin typeface="Calibri"/>
              </a:defRPr>
            </a:pPr>
            <a:r>
              <a:t>• app.py</a:t>
            </a:r>
          </a:p>
          <a:p>
            <a:pPr>
              <a:defRPr sz="1000">
                <a:solidFill>
                  <a:srgbClr val="2D3748"/>
                </a:solidFill>
                <a:latin typeface="Calibri"/>
              </a:defRPr>
            </a:pPr>
            <a:r>
              <a:t>  Interactive multi-route dashboard with route highlighting and emergency alerts.</a:t>
            </a:r>
          </a:p>
        </p:txBody>
      </p:sp>
      <p:sp>
        <p:nvSpPr>
          <p:cNvPr id="11" name="Rounded Rectangle 10"/>
          <p:cNvSpPr/>
          <p:nvPr/>
        </p:nvSpPr>
        <p:spPr>
          <a:xfrm>
            <a:off x="6126480" y="1417320"/>
            <a:ext cx="5333695" cy="4754880"/>
          </a:xfrm>
          <a:prstGeom prst="roundRect">
            <a:avLst/>
          </a:prstGeom>
          <a:solidFill>
            <a:srgbClr val="F7FAFC"/>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600200"/>
            <a:ext cx="4967935" cy="4389120"/>
          </a:xfrm>
          <a:prstGeom prst="rect">
            <a:avLst/>
          </a:prstGeom>
          <a:noFill/>
        </p:spPr>
        <p:txBody>
          <a:bodyPr wrap="square">
            <a:spAutoFit/>
          </a:bodyPr>
          <a:lstStyle/>
          <a:p>
            <a:pPr algn="ctr">
              <a:defRPr sz="1300" b="1">
                <a:solidFill>
                  <a:srgbClr val="1A365D"/>
                </a:solidFill>
                <a:latin typeface="Calibri"/>
              </a:defRPr>
            </a:pPr>
            <a:r>
              <a:t>📸 INSERT SCREENSHOT: Streamlit Dashboard</a:t>
            </a:r>
          </a:p>
          <a:p>
            <a:pPr algn="ctr">
              <a:defRPr sz="1000">
                <a:solidFill>
                  <a:srgbClr val="718096"/>
                </a:solidFill>
                <a:latin typeface="Calibri"/>
              </a:defRPr>
            </a:pPr>
            <a:r>
              <a:t>Capture full-window screenshot of the web dashboard at http://localhost:8501 showing sidebar controls, metric cards (Status, Evacuation Distance, Detour Impact), and the Folium map view.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Road Network &amp; Graph Representation</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07</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5303520"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4937760" cy="457200"/>
          </a:xfrm>
          <a:prstGeom prst="rect">
            <a:avLst/>
          </a:prstGeom>
          <a:noFill/>
        </p:spPr>
        <p:txBody>
          <a:bodyPr wrap="none">
            <a:spAutoFit/>
          </a:bodyPr>
          <a:lstStyle/>
          <a:p>
            <a:pPr>
              <a:defRPr sz="1400" b="1">
                <a:solidFill>
                  <a:srgbClr val="1A365D"/>
                </a:solidFill>
                <a:latin typeface="Calibri"/>
              </a:defRPr>
            </a:pPr>
            <a:r>
              <a:t>🗺️ Graph Topology (Intersections &amp; Roads)</a:t>
            </a:r>
          </a:p>
        </p:txBody>
      </p:sp>
      <p:sp>
        <p:nvSpPr>
          <p:cNvPr id="11" name="Oval 10"/>
          <p:cNvSpPr/>
          <p:nvPr/>
        </p:nvSpPr>
        <p:spPr>
          <a:xfrm>
            <a:off x="1188720" y="3474720"/>
            <a:ext cx="594360" cy="594360"/>
          </a:xfrm>
          <a:prstGeom prst="ellipse">
            <a:avLst/>
          </a:prstGeom>
          <a:solidFill>
            <a:srgbClr val="2F855A"/>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A</a:t>
            </a:r>
          </a:p>
        </p:txBody>
      </p:sp>
      <p:sp>
        <p:nvSpPr>
          <p:cNvPr id="12" name="Oval 11"/>
          <p:cNvSpPr/>
          <p:nvPr/>
        </p:nvSpPr>
        <p:spPr>
          <a:xfrm>
            <a:off x="2560320" y="2194560"/>
            <a:ext cx="594360" cy="594360"/>
          </a:xfrm>
          <a:prstGeom prst="ellipse">
            <a:avLst/>
          </a:prstGeom>
          <a:solidFill>
            <a:srgbClr val="3182C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B</a:t>
            </a:r>
          </a:p>
        </p:txBody>
      </p:sp>
      <p:sp>
        <p:nvSpPr>
          <p:cNvPr id="13" name="Oval 12"/>
          <p:cNvSpPr/>
          <p:nvPr/>
        </p:nvSpPr>
        <p:spPr>
          <a:xfrm>
            <a:off x="2377440" y="4846320"/>
            <a:ext cx="594360" cy="594360"/>
          </a:xfrm>
          <a:prstGeom prst="ellipse">
            <a:avLst/>
          </a:prstGeom>
          <a:solidFill>
            <a:srgbClr val="3182C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C</a:t>
            </a:r>
          </a:p>
        </p:txBody>
      </p:sp>
      <p:sp>
        <p:nvSpPr>
          <p:cNvPr id="14" name="Oval 13"/>
          <p:cNvSpPr/>
          <p:nvPr/>
        </p:nvSpPr>
        <p:spPr>
          <a:xfrm>
            <a:off x="4114800" y="2377440"/>
            <a:ext cx="594360" cy="594360"/>
          </a:xfrm>
          <a:prstGeom prst="ellipse">
            <a:avLst/>
          </a:prstGeom>
          <a:solidFill>
            <a:srgbClr val="3182C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D</a:t>
            </a:r>
          </a:p>
        </p:txBody>
      </p:sp>
      <p:sp>
        <p:nvSpPr>
          <p:cNvPr id="15" name="Oval 14"/>
          <p:cNvSpPr/>
          <p:nvPr/>
        </p:nvSpPr>
        <p:spPr>
          <a:xfrm>
            <a:off x="4023360" y="4754880"/>
            <a:ext cx="594360" cy="594360"/>
          </a:xfrm>
          <a:prstGeom prst="ellipse">
            <a:avLst/>
          </a:prstGeom>
          <a:solidFill>
            <a:srgbClr val="3182C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E</a:t>
            </a:r>
          </a:p>
        </p:txBody>
      </p:sp>
      <p:sp>
        <p:nvSpPr>
          <p:cNvPr id="16" name="Oval 15"/>
          <p:cNvSpPr/>
          <p:nvPr/>
        </p:nvSpPr>
        <p:spPr>
          <a:xfrm>
            <a:off x="5212080" y="3566160"/>
            <a:ext cx="594360" cy="594360"/>
          </a:xfrm>
          <a:prstGeom prst="ellipse">
            <a:avLst/>
          </a:prstGeom>
          <a:solidFill>
            <a:srgbClr val="E53E3E"/>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Calibri"/>
              </a:defRPr>
            </a:pPr>
            <a:r>
              <a:t>F</a:t>
            </a:r>
          </a:p>
        </p:txBody>
      </p:sp>
      <p:sp>
        <p:nvSpPr>
          <p:cNvPr id="17" name="TextBox 16"/>
          <p:cNvSpPr txBox="1"/>
          <p:nvPr/>
        </p:nvSpPr>
        <p:spPr>
          <a:xfrm>
            <a:off x="914400" y="5623560"/>
            <a:ext cx="4937760" cy="457200"/>
          </a:xfrm>
          <a:prstGeom prst="rect">
            <a:avLst/>
          </a:prstGeom>
          <a:noFill/>
        </p:spPr>
        <p:txBody>
          <a:bodyPr wrap="none">
            <a:spAutoFit/>
          </a:bodyPr>
          <a:lstStyle/>
          <a:p>
            <a:pPr>
              <a:defRPr sz="1000">
                <a:solidFill>
                  <a:srgbClr val="718096"/>
                </a:solidFill>
                <a:latin typeface="Calibri"/>
              </a:defRPr>
            </a:pPr>
            <a:r>
              <a:t>🟢 Origin (A)    🔵 Intersections (B, C, D, E)    🔴 Safe Shelter (F)</a:t>
            </a:r>
          </a:p>
        </p:txBody>
      </p:sp>
      <p:sp>
        <p:nvSpPr>
          <p:cNvPr id="18" name="Rounded Rectangle 17"/>
          <p:cNvSpPr/>
          <p:nvPr/>
        </p:nvSpPr>
        <p:spPr>
          <a:xfrm>
            <a:off x="6309360" y="1417320"/>
            <a:ext cx="5150815"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1508760"/>
            <a:ext cx="4754880" cy="457200"/>
          </a:xfrm>
          <a:prstGeom prst="rect">
            <a:avLst/>
          </a:prstGeom>
          <a:noFill/>
        </p:spPr>
        <p:txBody>
          <a:bodyPr wrap="none">
            <a:spAutoFit/>
          </a:bodyPr>
          <a:lstStyle/>
          <a:p>
            <a:pPr>
              <a:defRPr sz="1400" b="1">
                <a:solidFill>
                  <a:srgbClr val="1A365D"/>
                </a:solidFill>
                <a:latin typeface="Calibri"/>
              </a:defRPr>
            </a:pPr>
            <a:r>
              <a:t>📊 Road Segments &amp; Distance Weights</a:t>
            </a:r>
          </a:p>
        </p:txBody>
      </p:sp>
      <p:graphicFrame>
        <p:nvGraphicFramePr>
          <p:cNvPr id="20" name="Table 19"/>
          <p:cNvGraphicFramePr>
            <a:graphicFrameLocks noGrp="1"/>
          </p:cNvGraphicFramePr>
          <p:nvPr/>
        </p:nvGraphicFramePr>
        <p:xfrm>
          <a:off x="6492240" y="2011680"/>
          <a:ext cx="4754880" cy="3931920"/>
        </p:xfrm>
        <a:graphic>
          <a:graphicData uri="http://schemas.openxmlformats.org/drawingml/2006/table">
            <a:tbl>
              <a:tblPr firstRow="1" bandRow="1">
                <a:tableStyleId>{5C22544A-7EE6-4342-B048-85BDC9FD1C3A}</a:tableStyleId>
              </a:tblPr>
              <a:tblGrid>
                <a:gridCol w="1463040"/>
                <a:gridCol w="1463040"/>
                <a:gridCol w="1828800"/>
              </a:tblGrid>
              <a:tr h="393192">
                <a:tc>
                  <a:txBody>
                    <a:bodyPr/>
                    <a:lstStyle/>
                    <a:p>
                      <a:pPr>
                        <a:defRPr sz="950" b="1">
                          <a:solidFill>
                            <a:srgbClr val="FFFFFF"/>
                          </a:solidFill>
                          <a:latin typeface="Calibri"/>
                        </a:defRPr>
                      </a:pPr>
                      <a:r>
                        <a:t>Road Segment</a:t>
                      </a:r>
                    </a:p>
                  </a:txBody>
                  <a:tcPr anchor="ctr">
                    <a:solidFill>
                      <a:srgbClr val="1A365D"/>
                    </a:solidFill>
                  </a:tcPr>
                </a:tc>
                <a:tc>
                  <a:txBody>
                    <a:bodyPr/>
                    <a:lstStyle/>
                    <a:p>
                      <a:pPr>
                        <a:defRPr sz="950" b="1">
                          <a:solidFill>
                            <a:srgbClr val="FFFFFF"/>
                          </a:solidFill>
                          <a:latin typeface="Calibri"/>
                        </a:defRPr>
                      </a:pPr>
                      <a:r>
                        <a:t>Distance</a:t>
                      </a:r>
                    </a:p>
                  </a:txBody>
                  <a:tcPr anchor="ctr">
                    <a:solidFill>
                      <a:srgbClr val="1A365D"/>
                    </a:solidFill>
                  </a:tcPr>
                </a:tc>
                <a:tc>
                  <a:txBody>
                    <a:bodyPr/>
                    <a:lstStyle/>
                    <a:p>
                      <a:pPr>
                        <a:defRPr sz="950" b="1">
                          <a:solidFill>
                            <a:srgbClr val="FFFFFF"/>
                          </a:solidFill>
                          <a:latin typeface="Calibri"/>
                        </a:defRPr>
                      </a:pPr>
                      <a:r>
                        <a:t>Characteristics</a:t>
                      </a:r>
                    </a:p>
                  </a:txBody>
                  <a:tcPr anchor="ctr">
                    <a:solidFill>
                      <a:srgbClr val="1A365D"/>
                    </a:solidFill>
                  </a:tcPr>
                </a:tc>
              </a:tr>
              <a:tr h="393192">
                <a:tc>
                  <a:txBody>
                    <a:bodyPr/>
                    <a:lstStyle/>
                    <a:p>
                      <a:pPr>
                        <a:defRPr sz="950">
                          <a:solidFill>
                            <a:srgbClr val="2D3748"/>
                          </a:solidFill>
                          <a:latin typeface="Calibri"/>
                        </a:defRPr>
                      </a:pPr>
                      <a:r>
                        <a:t>Road A &lt;--&gt; B</a:t>
                      </a:r>
                    </a:p>
                  </a:txBody>
                  <a:tcPr anchor="ctr">
                    <a:solidFill>
                      <a:srgbClr val="F7FAFC"/>
                    </a:solidFill>
                  </a:tcPr>
                </a:tc>
                <a:tc>
                  <a:txBody>
                    <a:bodyPr/>
                    <a:lstStyle/>
                    <a:p>
                      <a:pPr>
                        <a:defRPr sz="950">
                          <a:solidFill>
                            <a:srgbClr val="2D3748"/>
                          </a:solidFill>
                          <a:latin typeface="Calibri"/>
                        </a:defRPr>
                      </a:pPr>
                      <a:r>
                        <a:t>4 units</a:t>
                      </a:r>
                    </a:p>
                  </a:txBody>
                  <a:tcPr anchor="ctr">
                    <a:solidFill>
                      <a:srgbClr val="F7FAFC"/>
                    </a:solidFill>
                  </a:tcPr>
                </a:tc>
                <a:tc>
                  <a:txBody>
                    <a:bodyPr/>
                    <a:lstStyle/>
                    <a:p>
                      <a:pPr>
                        <a:defRPr sz="950">
                          <a:solidFill>
                            <a:srgbClr val="2D3748"/>
                          </a:solidFill>
                          <a:latin typeface="Calibri"/>
                        </a:defRPr>
                      </a:pPr>
                      <a:r>
                        <a:t>North-West link</a:t>
                      </a:r>
                    </a:p>
                  </a:txBody>
                  <a:tcPr anchor="ctr">
                    <a:solidFill>
                      <a:srgbClr val="F7FAFC"/>
                    </a:solidFill>
                  </a:tcPr>
                </a:tc>
              </a:tr>
              <a:tr h="393192">
                <a:tc>
                  <a:txBody>
                    <a:bodyPr/>
                    <a:lstStyle/>
                    <a:p>
                      <a:pPr>
                        <a:defRPr sz="950">
                          <a:solidFill>
                            <a:srgbClr val="2D3748"/>
                          </a:solidFill>
                          <a:latin typeface="Calibri"/>
                        </a:defRPr>
                      </a:pPr>
                      <a:r>
                        <a:t>Road A &lt;--&gt; C</a:t>
                      </a:r>
                    </a:p>
                  </a:txBody>
                  <a:tcPr anchor="ctr">
                    <a:solidFill>
                      <a:srgbClr val="FFFFFF"/>
                    </a:solidFill>
                  </a:tcPr>
                </a:tc>
                <a:tc>
                  <a:txBody>
                    <a:bodyPr/>
                    <a:lstStyle/>
                    <a:p>
                      <a:pPr>
                        <a:defRPr sz="950">
                          <a:solidFill>
                            <a:srgbClr val="2D3748"/>
                          </a:solidFill>
                          <a:latin typeface="Calibri"/>
                        </a:defRPr>
                      </a:pPr>
                      <a:r>
                        <a:t>2 units</a:t>
                      </a:r>
                    </a:p>
                  </a:txBody>
                  <a:tcPr anchor="ctr">
                    <a:solidFill>
                      <a:srgbClr val="FFFFFF"/>
                    </a:solidFill>
                  </a:tcPr>
                </a:tc>
                <a:tc>
                  <a:txBody>
                    <a:bodyPr/>
                    <a:lstStyle/>
                    <a:p>
                      <a:pPr>
                        <a:defRPr sz="950">
                          <a:solidFill>
                            <a:srgbClr val="2D3748"/>
                          </a:solidFill>
                          <a:latin typeface="Calibri"/>
                        </a:defRPr>
                      </a:pPr>
                      <a:r>
                        <a:t>South-West link (Short)</a:t>
                      </a:r>
                    </a:p>
                  </a:txBody>
                  <a:tcPr anchor="ctr">
                    <a:solidFill>
                      <a:srgbClr val="FFFFFF"/>
                    </a:solidFill>
                  </a:tcPr>
                </a:tc>
              </a:tr>
              <a:tr h="393192">
                <a:tc>
                  <a:txBody>
                    <a:bodyPr/>
                    <a:lstStyle/>
                    <a:p>
                      <a:pPr>
                        <a:defRPr sz="950">
                          <a:solidFill>
                            <a:srgbClr val="2D3748"/>
                          </a:solidFill>
                          <a:latin typeface="Calibri"/>
                        </a:defRPr>
                      </a:pPr>
                      <a:r>
                        <a:t>Road B &lt;--&gt; C</a:t>
                      </a:r>
                    </a:p>
                  </a:txBody>
                  <a:tcPr anchor="ctr">
                    <a:solidFill>
                      <a:srgbClr val="F7FAFC"/>
                    </a:solidFill>
                  </a:tcPr>
                </a:tc>
                <a:tc>
                  <a:txBody>
                    <a:bodyPr/>
                    <a:lstStyle/>
                    <a:p>
                      <a:pPr>
                        <a:defRPr sz="950">
                          <a:solidFill>
                            <a:srgbClr val="2D3748"/>
                          </a:solidFill>
                          <a:latin typeface="Calibri"/>
                        </a:defRPr>
                      </a:pPr>
                      <a:r>
                        <a:t>1 unit</a:t>
                      </a:r>
                    </a:p>
                  </a:txBody>
                  <a:tcPr anchor="ctr">
                    <a:solidFill>
                      <a:srgbClr val="F7FAFC"/>
                    </a:solidFill>
                  </a:tcPr>
                </a:tc>
                <a:tc>
                  <a:txBody>
                    <a:bodyPr/>
                    <a:lstStyle/>
                    <a:p>
                      <a:pPr>
                        <a:defRPr sz="950">
                          <a:solidFill>
                            <a:srgbClr val="2D3748"/>
                          </a:solidFill>
                          <a:latin typeface="Calibri"/>
                        </a:defRPr>
                      </a:pPr>
                      <a:r>
                        <a:t>West connecting cross-street</a:t>
                      </a:r>
                    </a:p>
                  </a:txBody>
                  <a:tcPr anchor="ctr">
                    <a:solidFill>
                      <a:srgbClr val="F7FAFC"/>
                    </a:solidFill>
                  </a:tcPr>
                </a:tc>
              </a:tr>
              <a:tr h="393192">
                <a:tc>
                  <a:txBody>
                    <a:bodyPr/>
                    <a:lstStyle/>
                    <a:p>
                      <a:pPr>
                        <a:defRPr sz="950">
                          <a:solidFill>
                            <a:srgbClr val="2D3748"/>
                          </a:solidFill>
                          <a:latin typeface="Calibri"/>
                        </a:defRPr>
                      </a:pPr>
                      <a:r>
                        <a:t>Road B &lt;--&gt; D</a:t>
                      </a:r>
                    </a:p>
                  </a:txBody>
                  <a:tcPr anchor="ctr">
                    <a:solidFill>
                      <a:srgbClr val="FFFFFF"/>
                    </a:solidFill>
                  </a:tcPr>
                </a:tc>
                <a:tc>
                  <a:txBody>
                    <a:bodyPr/>
                    <a:lstStyle/>
                    <a:p>
                      <a:pPr>
                        <a:defRPr sz="950">
                          <a:solidFill>
                            <a:srgbClr val="2D3748"/>
                          </a:solidFill>
                          <a:latin typeface="Calibri"/>
                        </a:defRPr>
                      </a:pPr>
                      <a:r>
                        <a:t>5 units</a:t>
                      </a:r>
                    </a:p>
                  </a:txBody>
                  <a:tcPr anchor="ctr">
                    <a:solidFill>
                      <a:srgbClr val="FFFFFF"/>
                    </a:solidFill>
                  </a:tcPr>
                </a:tc>
                <a:tc>
                  <a:txBody>
                    <a:bodyPr/>
                    <a:lstStyle/>
                    <a:p>
                      <a:pPr>
                        <a:defRPr sz="950">
                          <a:solidFill>
                            <a:srgbClr val="2D3748"/>
                          </a:solidFill>
                          <a:latin typeface="Calibri"/>
                        </a:defRPr>
                      </a:pPr>
                      <a:r>
                        <a:t>Northern cross corridor</a:t>
                      </a:r>
                    </a:p>
                  </a:txBody>
                  <a:tcPr anchor="ctr">
                    <a:solidFill>
                      <a:srgbClr val="FFFFFF"/>
                    </a:solidFill>
                  </a:tcPr>
                </a:tc>
              </a:tr>
              <a:tr h="393192">
                <a:tc>
                  <a:txBody>
                    <a:bodyPr/>
                    <a:lstStyle/>
                    <a:p>
                      <a:pPr>
                        <a:defRPr sz="950">
                          <a:solidFill>
                            <a:srgbClr val="2D3748"/>
                          </a:solidFill>
                          <a:latin typeface="Calibri"/>
                        </a:defRPr>
                      </a:pPr>
                      <a:r>
                        <a:t>Road C &lt;--&gt; D</a:t>
                      </a:r>
                    </a:p>
                  </a:txBody>
                  <a:tcPr anchor="ctr">
                    <a:solidFill>
                      <a:srgbClr val="F7FAFC"/>
                    </a:solidFill>
                  </a:tcPr>
                </a:tc>
                <a:tc>
                  <a:txBody>
                    <a:bodyPr/>
                    <a:lstStyle/>
                    <a:p>
                      <a:pPr>
                        <a:defRPr sz="950">
                          <a:solidFill>
                            <a:srgbClr val="2D3748"/>
                          </a:solidFill>
                          <a:latin typeface="Calibri"/>
                        </a:defRPr>
                      </a:pPr>
                      <a:r>
                        <a:t>8 units</a:t>
                      </a:r>
                    </a:p>
                  </a:txBody>
                  <a:tcPr anchor="ctr">
                    <a:solidFill>
                      <a:srgbClr val="F7FAFC"/>
                    </a:solidFill>
                  </a:tcPr>
                </a:tc>
                <a:tc>
                  <a:txBody>
                    <a:bodyPr/>
                    <a:lstStyle/>
                    <a:p>
                      <a:pPr>
                        <a:defRPr sz="950">
                          <a:solidFill>
                            <a:srgbClr val="2D3748"/>
                          </a:solidFill>
                          <a:latin typeface="Calibri"/>
                        </a:defRPr>
                      </a:pPr>
                      <a:r>
                        <a:t>Central diagonal artery</a:t>
                      </a:r>
                    </a:p>
                  </a:txBody>
                  <a:tcPr anchor="ctr">
                    <a:solidFill>
                      <a:srgbClr val="F7FAFC"/>
                    </a:solidFill>
                  </a:tcPr>
                </a:tc>
              </a:tr>
              <a:tr h="393192">
                <a:tc>
                  <a:txBody>
                    <a:bodyPr/>
                    <a:lstStyle/>
                    <a:p>
                      <a:pPr>
                        <a:defRPr sz="950">
                          <a:solidFill>
                            <a:srgbClr val="2D3748"/>
                          </a:solidFill>
                          <a:latin typeface="Calibri"/>
                        </a:defRPr>
                      </a:pPr>
                      <a:r>
                        <a:t>Road C &lt;--&gt; E</a:t>
                      </a:r>
                    </a:p>
                  </a:txBody>
                  <a:tcPr anchor="ctr">
                    <a:solidFill>
                      <a:srgbClr val="FFFFFF"/>
                    </a:solidFill>
                  </a:tcPr>
                </a:tc>
                <a:tc>
                  <a:txBody>
                    <a:bodyPr/>
                    <a:lstStyle/>
                    <a:p>
                      <a:pPr>
                        <a:defRPr sz="950">
                          <a:solidFill>
                            <a:srgbClr val="2D3748"/>
                          </a:solidFill>
                          <a:latin typeface="Calibri"/>
                        </a:defRPr>
                      </a:pPr>
                      <a:r>
                        <a:t>10 units</a:t>
                      </a:r>
                    </a:p>
                  </a:txBody>
                  <a:tcPr anchor="ctr">
                    <a:solidFill>
                      <a:srgbClr val="FFFFFF"/>
                    </a:solidFill>
                  </a:tcPr>
                </a:tc>
                <a:tc>
                  <a:txBody>
                    <a:bodyPr/>
                    <a:lstStyle/>
                    <a:p>
                      <a:pPr>
                        <a:defRPr sz="950">
                          <a:solidFill>
                            <a:srgbClr val="2D3748"/>
                          </a:solidFill>
                          <a:latin typeface="Calibri"/>
                        </a:defRPr>
                      </a:pPr>
                      <a:r>
                        <a:t>Southern direct highway</a:t>
                      </a:r>
                    </a:p>
                  </a:txBody>
                  <a:tcPr anchor="ctr">
                    <a:solidFill>
                      <a:srgbClr val="FFFFFF"/>
                    </a:solidFill>
                  </a:tcPr>
                </a:tc>
              </a:tr>
              <a:tr h="393192">
                <a:tc>
                  <a:txBody>
                    <a:bodyPr/>
                    <a:lstStyle/>
                    <a:p>
                      <a:pPr>
                        <a:defRPr sz="950">
                          <a:solidFill>
                            <a:srgbClr val="2D3748"/>
                          </a:solidFill>
                          <a:latin typeface="Calibri"/>
                        </a:defRPr>
                      </a:pPr>
                      <a:r>
                        <a:t>Road D &lt;--&gt; E</a:t>
                      </a:r>
                    </a:p>
                  </a:txBody>
                  <a:tcPr anchor="ctr">
                    <a:solidFill>
                      <a:srgbClr val="F7FAFC"/>
                    </a:solidFill>
                  </a:tcPr>
                </a:tc>
                <a:tc>
                  <a:txBody>
                    <a:bodyPr/>
                    <a:lstStyle/>
                    <a:p>
                      <a:pPr>
                        <a:defRPr sz="950">
                          <a:solidFill>
                            <a:srgbClr val="2D3748"/>
                          </a:solidFill>
                          <a:latin typeface="Calibri"/>
                        </a:defRPr>
                      </a:pPr>
                      <a:r>
                        <a:t>2 units</a:t>
                      </a:r>
                    </a:p>
                  </a:txBody>
                  <a:tcPr anchor="ctr">
                    <a:solidFill>
                      <a:srgbClr val="F7FAFC"/>
                    </a:solidFill>
                  </a:tcPr>
                </a:tc>
                <a:tc>
                  <a:txBody>
                    <a:bodyPr/>
                    <a:lstStyle/>
                    <a:p>
                      <a:pPr>
                        <a:defRPr sz="950">
                          <a:solidFill>
                            <a:srgbClr val="2D3748"/>
                          </a:solidFill>
                          <a:latin typeface="Calibri"/>
                        </a:defRPr>
                      </a:pPr>
                      <a:r>
                        <a:t>East connecting cross-street</a:t>
                      </a:r>
                    </a:p>
                  </a:txBody>
                  <a:tcPr anchor="ctr">
                    <a:solidFill>
                      <a:srgbClr val="F7FAFC"/>
                    </a:solidFill>
                  </a:tcPr>
                </a:tc>
              </a:tr>
              <a:tr h="393192">
                <a:tc>
                  <a:txBody>
                    <a:bodyPr/>
                    <a:lstStyle/>
                    <a:p>
                      <a:pPr>
                        <a:defRPr sz="950">
                          <a:solidFill>
                            <a:srgbClr val="2D3748"/>
                          </a:solidFill>
                          <a:latin typeface="Calibri"/>
                        </a:defRPr>
                      </a:pPr>
                      <a:r>
                        <a:t>Road D &lt;--&gt; F</a:t>
                      </a:r>
                    </a:p>
                  </a:txBody>
                  <a:tcPr anchor="ctr">
                    <a:solidFill>
                      <a:srgbClr val="FFFFFF"/>
                    </a:solidFill>
                  </a:tcPr>
                </a:tc>
                <a:tc>
                  <a:txBody>
                    <a:bodyPr/>
                    <a:lstStyle/>
                    <a:p>
                      <a:pPr>
                        <a:defRPr sz="950">
                          <a:solidFill>
                            <a:srgbClr val="2D3748"/>
                          </a:solidFill>
                          <a:latin typeface="Calibri"/>
                        </a:defRPr>
                      </a:pPr>
                      <a:r>
                        <a:t>6 units</a:t>
                      </a:r>
                    </a:p>
                  </a:txBody>
                  <a:tcPr anchor="ctr">
                    <a:solidFill>
                      <a:srgbClr val="FFFFFF"/>
                    </a:solidFill>
                  </a:tcPr>
                </a:tc>
                <a:tc>
                  <a:txBody>
                    <a:bodyPr/>
                    <a:lstStyle/>
                    <a:p>
                      <a:pPr>
                        <a:defRPr sz="950">
                          <a:solidFill>
                            <a:srgbClr val="2D3748"/>
                          </a:solidFill>
                          <a:latin typeface="Calibri"/>
                        </a:defRPr>
                      </a:pPr>
                      <a:r>
                        <a:t>North-East entrance to Shelter</a:t>
                      </a:r>
                    </a:p>
                  </a:txBody>
                  <a:tcPr anchor="ctr">
                    <a:solidFill>
                      <a:srgbClr val="FFFFFF"/>
                    </a:solidFill>
                  </a:tcPr>
                </a:tc>
              </a:tr>
              <a:tr h="393192">
                <a:tc>
                  <a:txBody>
                    <a:bodyPr/>
                    <a:lstStyle/>
                    <a:p>
                      <a:pPr>
                        <a:defRPr sz="950">
                          <a:solidFill>
                            <a:srgbClr val="2D3748"/>
                          </a:solidFill>
                          <a:latin typeface="Calibri"/>
                        </a:defRPr>
                      </a:pPr>
                      <a:r>
                        <a:t>Road E &lt;--&gt; F</a:t>
                      </a:r>
                    </a:p>
                  </a:txBody>
                  <a:tcPr anchor="ctr">
                    <a:solidFill>
                      <a:srgbClr val="F7FAFC"/>
                    </a:solidFill>
                  </a:tcPr>
                </a:tc>
                <a:tc>
                  <a:txBody>
                    <a:bodyPr/>
                    <a:lstStyle/>
                    <a:p>
                      <a:pPr>
                        <a:defRPr sz="950">
                          <a:solidFill>
                            <a:srgbClr val="2D3748"/>
                          </a:solidFill>
                          <a:latin typeface="Calibri"/>
                        </a:defRPr>
                      </a:pPr>
                      <a:r>
                        <a:t>3 units</a:t>
                      </a:r>
                    </a:p>
                  </a:txBody>
                  <a:tcPr anchor="ctr">
                    <a:solidFill>
                      <a:srgbClr val="F7FAFC"/>
                    </a:solidFill>
                  </a:tcPr>
                </a:tc>
                <a:tc>
                  <a:txBody>
                    <a:bodyPr/>
                    <a:lstStyle/>
                    <a:p>
                      <a:pPr>
                        <a:defRPr sz="950">
                          <a:solidFill>
                            <a:srgbClr val="2D3748"/>
                          </a:solidFill>
                          <a:latin typeface="Calibri"/>
                        </a:defRPr>
                      </a:pPr>
                      <a:r>
                        <a:t>South-East entrance to Shelter</a:t>
                      </a:r>
                    </a:p>
                  </a:txBody>
                  <a:tcPr anchor="ctr">
                    <a:solidFill>
                      <a:srgbClr val="F7FAFC"/>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Search Algorithms Comparison: BFS vs. UCS vs. A*</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08</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3328416" cy="2011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417320"/>
            <a:ext cx="3328416" cy="73152"/>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554480"/>
            <a:ext cx="3054096" cy="1737360"/>
          </a:xfrm>
          <a:prstGeom prst="rect">
            <a:avLst/>
          </a:prstGeom>
          <a:noFill/>
        </p:spPr>
        <p:txBody>
          <a:bodyPr wrap="square">
            <a:spAutoFit/>
          </a:bodyPr>
          <a:lstStyle/>
          <a:p>
            <a:pPr>
              <a:defRPr sz="1300" b="1">
                <a:solidFill>
                  <a:srgbClr val="1A365D"/>
                </a:solidFill>
                <a:latin typeface="Calibri"/>
              </a:defRPr>
            </a:pPr>
            <a:r>
              <a:t>Breadth-First Search (BFS)</a:t>
            </a:r>
          </a:p>
          <a:p>
            <a:pPr>
              <a:defRPr sz="1000">
                <a:solidFill>
                  <a:srgbClr val="2D3748"/>
                </a:solidFill>
                <a:latin typeface="Calibri"/>
              </a:defRPr>
            </a:pPr>
            <a:r>
              <a:t>• Queue: FIFO (collections.deque)</a:t>
            </a:r>
          </a:p>
          <a:p>
            <a:pPr>
              <a:defRPr sz="1000">
                <a:solidFill>
                  <a:srgbClr val="2D3748"/>
                </a:solidFill>
                <a:latin typeface="Calibri"/>
              </a:defRPr>
            </a:pPr>
            <a:r>
              <a:t>• Cost: Unweighted (1 hop per edge)</a:t>
            </a:r>
          </a:p>
          <a:p>
            <a:pPr>
              <a:defRPr sz="1000">
                <a:solidFill>
                  <a:srgbClr val="2D3748"/>
                </a:solidFill>
                <a:latin typeface="Calibri"/>
              </a:defRPr>
            </a:pPr>
            <a:r>
              <a:t>• Goal: Fewest intersections</a:t>
            </a:r>
          </a:p>
        </p:txBody>
      </p:sp>
      <p:sp>
        <p:nvSpPr>
          <p:cNvPr id="12" name="Rounded Rectangle 11"/>
          <p:cNvSpPr/>
          <p:nvPr/>
        </p:nvSpPr>
        <p:spPr>
          <a:xfrm>
            <a:off x="4425696" y="1417320"/>
            <a:ext cx="3328416" cy="2011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25696" y="1417320"/>
            <a:ext cx="3328416" cy="73152"/>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62856" y="1554480"/>
            <a:ext cx="3054096" cy="1737360"/>
          </a:xfrm>
          <a:prstGeom prst="rect">
            <a:avLst/>
          </a:prstGeom>
          <a:noFill/>
        </p:spPr>
        <p:txBody>
          <a:bodyPr wrap="square">
            <a:spAutoFit/>
          </a:bodyPr>
          <a:lstStyle/>
          <a:p>
            <a:pPr>
              <a:defRPr sz="1300" b="1">
                <a:solidFill>
                  <a:srgbClr val="1A365D"/>
                </a:solidFill>
                <a:latin typeface="Calibri"/>
              </a:defRPr>
            </a:pPr>
            <a:r>
              <a:t>Uniform Cost Search (UCS)</a:t>
            </a:r>
          </a:p>
          <a:p>
            <a:pPr>
              <a:defRPr sz="1000">
                <a:solidFill>
                  <a:srgbClr val="2D3748"/>
                </a:solidFill>
                <a:latin typeface="Calibri"/>
              </a:defRPr>
            </a:pPr>
            <a:r>
              <a:t>• Queue: Priority Queue (heapq)</a:t>
            </a:r>
          </a:p>
          <a:p>
            <a:pPr>
              <a:defRPr sz="1000">
                <a:solidFill>
                  <a:srgbClr val="2D3748"/>
                </a:solidFill>
                <a:latin typeface="Calibri"/>
              </a:defRPr>
            </a:pPr>
            <a:r>
              <a:t>• Cost: Cumulative distance g(n)</a:t>
            </a:r>
          </a:p>
          <a:p>
            <a:pPr>
              <a:defRPr sz="1000">
                <a:solidFill>
                  <a:srgbClr val="2D3748"/>
                </a:solidFill>
                <a:latin typeface="Calibri"/>
              </a:defRPr>
            </a:pPr>
            <a:r>
              <a:t>• Goal: Minimum physical travel distance</a:t>
            </a:r>
          </a:p>
        </p:txBody>
      </p:sp>
      <p:sp>
        <p:nvSpPr>
          <p:cNvPr id="15" name="Rounded Rectangle 14"/>
          <p:cNvSpPr/>
          <p:nvPr/>
        </p:nvSpPr>
        <p:spPr>
          <a:xfrm>
            <a:off x="8119872" y="1417320"/>
            <a:ext cx="3328416" cy="20116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1417320"/>
            <a:ext cx="3328416" cy="73152"/>
          </a:xfrm>
          <a:prstGeom prst="rect">
            <a:avLst/>
          </a:prstGeom>
          <a:solidFill>
            <a:srgbClr val="2F85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7032" y="1554480"/>
            <a:ext cx="3054096" cy="1737360"/>
          </a:xfrm>
          <a:prstGeom prst="rect">
            <a:avLst/>
          </a:prstGeom>
          <a:noFill/>
        </p:spPr>
        <p:txBody>
          <a:bodyPr wrap="square">
            <a:spAutoFit/>
          </a:bodyPr>
          <a:lstStyle/>
          <a:p>
            <a:pPr>
              <a:defRPr sz="1300" b="1">
                <a:solidFill>
                  <a:srgbClr val="1A365D"/>
                </a:solidFill>
                <a:latin typeface="Calibri"/>
              </a:defRPr>
            </a:pPr>
            <a:r>
              <a:t>A* Search Algorithm</a:t>
            </a:r>
          </a:p>
          <a:p>
            <a:pPr>
              <a:defRPr sz="1000">
                <a:solidFill>
                  <a:srgbClr val="2D3748"/>
                </a:solidFill>
                <a:latin typeface="Calibri"/>
              </a:defRPr>
            </a:pPr>
            <a:r>
              <a:t>• Evaluation: f(n) = g(n) + h(n)</a:t>
            </a:r>
          </a:p>
          <a:p>
            <a:pPr>
              <a:defRPr sz="1000">
                <a:solidFill>
                  <a:srgbClr val="2D3748"/>
                </a:solidFill>
                <a:latin typeface="Calibri"/>
              </a:defRPr>
            </a:pPr>
            <a:r>
              <a:t>• Heuristic: h(n) = 0 (admissible)</a:t>
            </a:r>
          </a:p>
          <a:p>
            <a:pPr>
              <a:defRPr sz="1000">
                <a:solidFill>
                  <a:srgbClr val="2D3748"/>
                </a:solidFill>
                <a:latin typeface="Calibri"/>
              </a:defRPr>
            </a:pPr>
            <a:r>
              <a:t>• Goal: Optimal heuristic path</a:t>
            </a:r>
          </a:p>
        </p:txBody>
      </p:sp>
      <p:graphicFrame>
        <p:nvGraphicFramePr>
          <p:cNvPr id="18" name="Table 17"/>
          <p:cNvGraphicFramePr>
            <a:graphicFrameLocks noGrp="1"/>
          </p:cNvGraphicFramePr>
          <p:nvPr/>
        </p:nvGraphicFramePr>
        <p:xfrm>
          <a:off x="731520" y="3657600"/>
          <a:ext cx="10728655" cy="2194560"/>
        </p:xfrm>
        <a:graphic>
          <a:graphicData uri="http://schemas.openxmlformats.org/drawingml/2006/table">
            <a:tbl>
              <a:tblPr firstRow="1" bandRow="1">
                <a:tableStyleId>{5C22544A-7EE6-4342-B048-85BDC9FD1C3A}</a:tableStyleId>
              </a:tblPr>
              <a:tblGrid>
                <a:gridCol w="2194560"/>
                <a:gridCol w="2743200"/>
                <a:gridCol w="1371600"/>
                <a:gridCol w="1280160"/>
                <a:gridCol w="1463040"/>
                <a:gridCol w="1676095"/>
              </a:tblGrid>
              <a:tr h="548640">
                <a:tc>
                  <a:txBody>
                    <a:bodyPr/>
                    <a:lstStyle/>
                    <a:p>
                      <a:pPr>
                        <a:defRPr sz="1050" b="1">
                          <a:solidFill>
                            <a:srgbClr val="FFFFFF"/>
                          </a:solidFill>
                          <a:latin typeface="Calibri"/>
                        </a:defRPr>
                      </a:pPr>
                      <a:r>
                        <a:t>Algorithm</a:t>
                      </a:r>
                    </a:p>
                  </a:txBody>
                  <a:tcPr anchor="ctr">
                    <a:solidFill>
                      <a:srgbClr val="1A365D"/>
                    </a:solidFill>
                  </a:tcPr>
                </a:tc>
                <a:tc>
                  <a:txBody>
                    <a:bodyPr/>
                    <a:lstStyle/>
                    <a:p>
                      <a:pPr>
                        <a:defRPr sz="1050" b="1">
                          <a:solidFill>
                            <a:srgbClr val="FFFFFF"/>
                          </a:solidFill>
                          <a:latin typeface="Calibri"/>
                        </a:defRPr>
                      </a:pPr>
                      <a:r>
                        <a:t>Evacuation Route Found</a:t>
                      </a:r>
                    </a:p>
                  </a:txBody>
                  <a:tcPr anchor="ctr">
                    <a:solidFill>
                      <a:srgbClr val="1A365D"/>
                    </a:solidFill>
                  </a:tcPr>
                </a:tc>
                <a:tc>
                  <a:txBody>
                    <a:bodyPr/>
                    <a:lstStyle/>
                    <a:p>
                      <a:pPr>
                        <a:defRPr sz="1050" b="1">
                          <a:solidFill>
                            <a:srgbClr val="FFFFFF"/>
                          </a:solidFill>
                          <a:latin typeface="Calibri"/>
                        </a:defRPr>
                      </a:pPr>
                      <a:r>
                        <a:t>Intersections</a:t>
                      </a:r>
                    </a:p>
                  </a:txBody>
                  <a:tcPr anchor="ctr">
                    <a:solidFill>
                      <a:srgbClr val="1A365D"/>
                    </a:solidFill>
                  </a:tcPr>
                </a:tc>
                <a:tc>
                  <a:txBody>
                    <a:bodyPr/>
                    <a:lstStyle/>
                    <a:p>
                      <a:pPr>
                        <a:defRPr sz="1050" b="1">
                          <a:solidFill>
                            <a:srgbClr val="FFFFFF"/>
                          </a:solidFill>
                          <a:latin typeface="Calibri"/>
                        </a:defRPr>
                      </a:pPr>
                      <a:r>
                        <a:t>Hops</a:t>
                      </a:r>
                    </a:p>
                  </a:txBody>
                  <a:tcPr anchor="ctr">
                    <a:solidFill>
                      <a:srgbClr val="1A365D"/>
                    </a:solidFill>
                  </a:tcPr>
                </a:tc>
                <a:tc>
                  <a:txBody>
                    <a:bodyPr/>
                    <a:lstStyle/>
                    <a:p>
                      <a:pPr>
                        <a:defRPr sz="1050" b="1">
                          <a:solidFill>
                            <a:srgbClr val="FFFFFF"/>
                          </a:solidFill>
                          <a:latin typeface="Calibri"/>
                        </a:defRPr>
                      </a:pPr>
                      <a:r>
                        <a:t>Total Distance</a:t>
                      </a:r>
                    </a:p>
                  </a:txBody>
                  <a:tcPr anchor="ctr">
                    <a:solidFill>
                      <a:srgbClr val="1A365D"/>
                    </a:solidFill>
                  </a:tcPr>
                </a:tc>
                <a:tc>
                  <a:txBody>
                    <a:bodyPr/>
                    <a:lstStyle/>
                    <a:p>
                      <a:pPr>
                        <a:defRPr sz="1050" b="1">
                          <a:solidFill>
                            <a:srgbClr val="FFFFFF"/>
                          </a:solidFill>
                          <a:latin typeface="Calibri"/>
                        </a:defRPr>
                      </a:pPr>
                      <a:r>
                        <a:t>Optimality</a:t>
                      </a:r>
                    </a:p>
                  </a:txBody>
                  <a:tcPr anchor="ctr">
                    <a:solidFill>
                      <a:srgbClr val="1A365D"/>
                    </a:solidFill>
                  </a:tcPr>
                </a:tc>
              </a:tr>
              <a:tr h="548640">
                <a:tc>
                  <a:txBody>
                    <a:bodyPr/>
                    <a:lstStyle/>
                    <a:p>
                      <a:pPr>
                        <a:defRPr sz="1050">
                          <a:solidFill>
                            <a:srgbClr val="2D3748"/>
                          </a:solidFill>
                          <a:latin typeface="Calibri"/>
                        </a:defRPr>
                      </a:pPr>
                      <a:r>
                        <a:t>Breadth-First Search (BFS)</a:t>
                      </a:r>
                    </a:p>
                  </a:txBody>
                  <a:tcPr anchor="ctr">
                    <a:solidFill>
                      <a:srgbClr val="F7FAFC"/>
                    </a:solidFill>
                  </a:tcPr>
                </a:tc>
                <a:tc>
                  <a:txBody>
                    <a:bodyPr/>
                    <a:lstStyle/>
                    <a:p>
                      <a:pPr>
                        <a:defRPr sz="1050">
                          <a:solidFill>
                            <a:srgbClr val="2D3748"/>
                          </a:solidFill>
                          <a:latin typeface="Calibri"/>
                        </a:defRPr>
                      </a:pPr>
                      <a:r>
                        <a:t>A -&gt; B -&gt; D -&gt; F</a:t>
                      </a:r>
                    </a:p>
                  </a:txBody>
                  <a:tcPr anchor="ctr">
                    <a:solidFill>
                      <a:srgbClr val="F7FAFC"/>
                    </a:solidFill>
                  </a:tcPr>
                </a:tc>
                <a:tc>
                  <a:txBody>
                    <a:bodyPr/>
                    <a:lstStyle/>
                    <a:p>
                      <a:pPr>
                        <a:defRPr sz="1050">
                          <a:solidFill>
                            <a:srgbClr val="2D3748"/>
                          </a:solidFill>
                          <a:latin typeface="Calibri"/>
                        </a:defRPr>
                      </a:pPr>
                      <a:r>
                        <a:t>4 nodes</a:t>
                      </a:r>
                    </a:p>
                  </a:txBody>
                  <a:tcPr anchor="ctr">
                    <a:solidFill>
                      <a:srgbClr val="F7FAFC"/>
                    </a:solidFill>
                  </a:tcPr>
                </a:tc>
                <a:tc>
                  <a:txBody>
                    <a:bodyPr/>
                    <a:lstStyle/>
                    <a:p>
                      <a:pPr>
                        <a:defRPr sz="1050">
                          <a:solidFill>
                            <a:srgbClr val="2D3748"/>
                          </a:solidFill>
                          <a:latin typeface="Calibri"/>
                        </a:defRPr>
                      </a:pPr>
                      <a:r>
                        <a:t>3 hops</a:t>
                      </a:r>
                    </a:p>
                  </a:txBody>
                  <a:tcPr anchor="ctr">
                    <a:solidFill>
                      <a:srgbClr val="F7FAFC"/>
                    </a:solidFill>
                  </a:tcPr>
                </a:tc>
                <a:tc>
                  <a:txBody>
                    <a:bodyPr/>
                    <a:lstStyle/>
                    <a:p>
                      <a:pPr>
                        <a:defRPr sz="1050">
                          <a:solidFill>
                            <a:srgbClr val="2D3748"/>
                          </a:solidFill>
                          <a:latin typeface="Calibri"/>
                        </a:defRPr>
                      </a:pPr>
                      <a:r>
                        <a:t>15 units</a:t>
                      </a:r>
                    </a:p>
                  </a:txBody>
                  <a:tcPr anchor="ctr">
                    <a:solidFill>
                      <a:srgbClr val="F7FAFC"/>
                    </a:solidFill>
                  </a:tcPr>
                </a:tc>
                <a:tc>
                  <a:txBody>
                    <a:bodyPr/>
                    <a:lstStyle/>
                    <a:p>
                      <a:pPr>
                        <a:defRPr sz="1050">
                          <a:solidFill>
                            <a:srgbClr val="2D3748"/>
                          </a:solidFill>
                          <a:latin typeface="Calibri"/>
                        </a:defRPr>
                      </a:pPr>
                      <a:r>
                        <a:t>Suboptimal Distance</a:t>
                      </a:r>
                    </a:p>
                  </a:txBody>
                  <a:tcPr anchor="ctr">
                    <a:solidFill>
                      <a:srgbClr val="F7FAFC"/>
                    </a:solidFill>
                  </a:tcPr>
                </a:tc>
              </a:tr>
              <a:tr h="548640">
                <a:tc>
                  <a:txBody>
                    <a:bodyPr/>
                    <a:lstStyle/>
                    <a:p>
                      <a:pPr>
                        <a:defRPr sz="1050">
                          <a:solidFill>
                            <a:srgbClr val="2D3748"/>
                          </a:solidFill>
                          <a:latin typeface="Calibri"/>
                        </a:defRPr>
                      </a:pPr>
                      <a:r>
                        <a:t>Uniform Cost Search (UCS)</a:t>
                      </a:r>
                    </a:p>
                  </a:txBody>
                  <a:tcPr anchor="ctr">
                    <a:solidFill>
                      <a:srgbClr val="FFFFFF"/>
                    </a:solidFill>
                  </a:tcPr>
                </a:tc>
                <a:tc>
                  <a:txBody>
                    <a:bodyPr/>
                    <a:lstStyle/>
                    <a:p>
                      <a:pPr>
                        <a:defRPr sz="1050">
                          <a:solidFill>
                            <a:srgbClr val="2D3748"/>
                          </a:solidFill>
                          <a:latin typeface="Calibri"/>
                        </a:defRPr>
                      </a:pPr>
                      <a:r>
                        <a:t>A -&gt; C -&gt; B -&gt; D -&gt; E -&gt; F</a:t>
                      </a:r>
                    </a:p>
                  </a:txBody>
                  <a:tcPr anchor="ctr">
                    <a:solidFill>
                      <a:srgbClr val="FFFFFF"/>
                    </a:solidFill>
                  </a:tcPr>
                </a:tc>
                <a:tc>
                  <a:txBody>
                    <a:bodyPr/>
                    <a:lstStyle/>
                    <a:p>
                      <a:pPr>
                        <a:defRPr sz="1050">
                          <a:solidFill>
                            <a:srgbClr val="2D3748"/>
                          </a:solidFill>
                          <a:latin typeface="Calibri"/>
                        </a:defRPr>
                      </a:pPr>
                      <a:r>
                        <a:t>6 nodes</a:t>
                      </a:r>
                    </a:p>
                  </a:txBody>
                  <a:tcPr anchor="ctr">
                    <a:solidFill>
                      <a:srgbClr val="FFFFFF"/>
                    </a:solidFill>
                  </a:tcPr>
                </a:tc>
                <a:tc>
                  <a:txBody>
                    <a:bodyPr/>
                    <a:lstStyle/>
                    <a:p>
                      <a:pPr>
                        <a:defRPr sz="1050">
                          <a:solidFill>
                            <a:srgbClr val="2D3748"/>
                          </a:solidFill>
                          <a:latin typeface="Calibri"/>
                        </a:defRPr>
                      </a:pPr>
                      <a:r>
                        <a:t>5 hops</a:t>
                      </a:r>
                    </a:p>
                  </a:txBody>
                  <a:tcPr anchor="ctr">
                    <a:solidFill>
                      <a:srgbClr val="FFFFFF"/>
                    </a:solidFill>
                  </a:tcPr>
                </a:tc>
                <a:tc>
                  <a:txBody>
                    <a:bodyPr/>
                    <a:lstStyle/>
                    <a:p>
                      <a:pPr>
                        <a:defRPr sz="1050">
                          <a:solidFill>
                            <a:srgbClr val="2D3748"/>
                          </a:solidFill>
                          <a:latin typeface="Calibri"/>
                        </a:defRPr>
                      </a:pPr>
                      <a:r>
                        <a:t>13 units</a:t>
                      </a:r>
                    </a:p>
                  </a:txBody>
                  <a:tcPr anchor="ctr">
                    <a:solidFill>
                      <a:srgbClr val="FFFFFF"/>
                    </a:solidFill>
                  </a:tcPr>
                </a:tc>
                <a:tc>
                  <a:txBody>
                    <a:bodyPr/>
                    <a:lstStyle/>
                    <a:p>
                      <a:pPr>
                        <a:defRPr sz="1050">
                          <a:solidFill>
                            <a:srgbClr val="2D3748"/>
                          </a:solidFill>
                          <a:latin typeface="Calibri"/>
                        </a:defRPr>
                      </a:pPr>
                      <a:r>
                        <a:t>Globally Optimal ⭐</a:t>
                      </a:r>
                    </a:p>
                  </a:txBody>
                  <a:tcPr anchor="ctr">
                    <a:solidFill>
                      <a:srgbClr val="FFFFFF"/>
                    </a:solidFill>
                  </a:tcPr>
                </a:tc>
              </a:tr>
              <a:tr h="548640">
                <a:tc>
                  <a:txBody>
                    <a:bodyPr/>
                    <a:lstStyle/>
                    <a:p>
                      <a:pPr>
                        <a:defRPr sz="1050">
                          <a:solidFill>
                            <a:srgbClr val="2D3748"/>
                          </a:solidFill>
                          <a:latin typeface="Calibri"/>
                        </a:defRPr>
                      </a:pPr>
                      <a:r>
                        <a:t>A* Search (h = 0)</a:t>
                      </a:r>
                    </a:p>
                  </a:txBody>
                  <a:tcPr anchor="ctr">
                    <a:solidFill>
                      <a:srgbClr val="F7FAFC"/>
                    </a:solidFill>
                  </a:tcPr>
                </a:tc>
                <a:tc>
                  <a:txBody>
                    <a:bodyPr/>
                    <a:lstStyle/>
                    <a:p>
                      <a:pPr>
                        <a:defRPr sz="1050">
                          <a:solidFill>
                            <a:srgbClr val="2D3748"/>
                          </a:solidFill>
                          <a:latin typeface="Calibri"/>
                        </a:defRPr>
                      </a:pPr>
                      <a:r>
                        <a:t>A -&gt; C -&gt; B -&gt; D -&gt; E -&gt; F</a:t>
                      </a:r>
                    </a:p>
                  </a:txBody>
                  <a:tcPr anchor="ctr">
                    <a:solidFill>
                      <a:srgbClr val="F7FAFC"/>
                    </a:solidFill>
                  </a:tcPr>
                </a:tc>
                <a:tc>
                  <a:txBody>
                    <a:bodyPr/>
                    <a:lstStyle/>
                    <a:p>
                      <a:pPr>
                        <a:defRPr sz="1050">
                          <a:solidFill>
                            <a:srgbClr val="2D3748"/>
                          </a:solidFill>
                          <a:latin typeface="Calibri"/>
                        </a:defRPr>
                      </a:pPr>
                      <a:r>
                        <a:t>6 nodes</a:t>
                      </a:r>
                    </a:p>
                  </a:txBody>
                  <a:tcPr anchor="ctr">
                    <a:solidFill>
                      <a:srgbClr val="F7FAFC"/>
                    </a:solidFill>
                  </a:tcPr>
                </a:tc>
                <a:tc>
                  <a:txBody>
                    <a:bodyPr/>
                    <a:lstStyle/>
                    <a:p>
                      <a:pPr>
                        <a:defRPr sz="1050">
                          <a:solidFill>
                            <a:srgbClr val="2D3748"/>
                          </a:solidFill>
                          <a:latin typeface="Calibri"/>
                        </a:defRPr>
                      </a:pPr>
                      <a:r>
                        <a:t>5 hops</a:t>
                      </a:r>
                    </a:p>
                  </a:txBody>
                  <a:tcPr anchor="ctr">
                    <a:solidFill>
                      <a:srgbClr val="F7FAFC"/>
                    </a:solidFill>
                  </a:tcPr>
                </a:tc>
                <a:tc>
                  <a:txBody>
                    <a:bodyPr/>
                    <a:lstStyle/>
                    <a:p>
                      <a:pPr>
                        <a:defRPr sz="1050">
                          <a:solidFill>
                            <a:srgbClr val="2D3748"/>
                          </a:solidFill>
                          <a:latin typeface="Calibri"/>
                        </a:defRPr>
                      </a:pPr>
                      <a:r>
                        <a:t>13 units</a:t>
                      </a:r>
                    </a:p>
                  </a:txBody>
                  <a:tcPr anchor="ctr">
                    <a:solidFill>
                      <a:srgbClr val="F7FAFC"/>
                    </a:solidFill>
                  </a:tcPr>
                </a:tc>
                <a:tc>
                  <a:txBody>
                    <a:bodyPr/>
                    <a:lstStyle/>
                    <a:p>
                      <a:pPr>
                        <a:defRPr sz="1050">
                          <a:solidFill>
                            <a:srgbClr val="2D3748"/>
                          </a:solidFill>
                          <a:latin typeface="Calibri"/>
                        </a:defRPr>
                      </a:pPr>
                      <a:r>
                        <a:t>Globally Optimal ⭐</a:t>
                      </a:r>
                    </a:p>
                  </a:txBody>
                  <a:tcPr anchor="ctr">
                    <a:solidFill>
                      <a:srgbClr val="F7FAFC"/>
                    </a:solidFill>
                  </a:tcPr>
                </a:tc>
              </a:tr>
            </a:tbl>
          </a:graphicData>
        </a:graphic>
      </p:graphicFrame>
      <p:sp>
        <p:nvSpPr>
          <p:cNvPr id="19" name="Rounded Rectangle 18"/>
          <p:cNvSpPr/>
          <p:nvPr/>
        </p:nvSpPr>
        <p:spPr>
          <a:xfrm>
            <a:off x="731520" y="5989320"/>
            <a:ext cx="10728655" cy="45720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989320"/>
            <a:ext cx="10362895" cy="411480"/>
          </a:xfrm>
          <a:prstGeom prst="rect">
            <a:avLst/>
          </a:prstGeom>
          <a:noFill/>
        </p:spPr>
        <p:txBody>
          <a:bodyPr wrap="none">
            <a:spAutoFit/>
          </a:bodyPr>
          <a:lstStyle/>
          <a:p>
            <a:pPr>
              <a:defRPr sz="1000" b="1">
                <a:solidFill>
                  <a:srgbClr val="92400E"/>
                </a:solidFill>
                <a:latin typeface="Calibri"/>
              </a:defRPr>
            </a:pPr>
            <a:r>
              <a:t>⚡ Key Computer Science Insight: BFS takes only 3 hops but 15 distance units. UCS takes 5 hops but travels only 13 units—saving 2 units of physical travel!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Dynamic Road Blockage &amp; Automatic Rerouting</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09</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5120640"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4754880" cy="4389120"/>
          </a:xfrm>
          <a:prstGeom prst="rect">
            <a:avLst/>
          </a:prstGeom>
          <a:noFill/>
        </p:spPr>
        <p:txBody>
          <a:bodyPr wrap="square">
            <a:spAutoFit/>
          </a:bodyPr>
          <a:lstStyle/>
          <a:p>
            <a:pPr>
              <a:defRPr sz="1500" b="1">
                <a:solidFill>
                  <a:srgbClr val="1A365D"/>
                </a:solidFill>
                <a:latin typeface="Calibri"/>
              </a:defRPr>
            </a:pPr>
            <a:r>
              <a:t>🚧 Rerouting Logic &amp; Mechanics</a:t>
            </a:r>
          </a:p>
          <a:p>
            <a:pPr>
              <a:defRPr sz="1100" b="1">
                <a:solidFill>
                  <a:srgbClr val="3182CE"/>
                </a:solidFill>
                <a:latin typeface="Calibri"/>
              </a:defRPr>
            </a:pPr>
            <a:r>
              <a:t>✔ 1. Graph Isolation (.copy())</a:t>
            </a:r>
          </a:p>
          <a:p>
            <a:pPr>
              <a:defRPr sz="1000">
                <a:solidFill>
                  <a:srgbClr val="2D3748"/>
                </a:solidFill>
                <a:latin typeface="Calibri"/>
              </a:defRPr>
            </a:pPr>
            <a:r>
              <a:t>   Each simulation creates an isolated working copy of the network. Original road attributes remain pristine across runs.</a:t>
            </a:r>
          </a:p>
          <a:p>
            <a:pPr>
              <a:defRPr sz="1100" b="1">
                <a:solidFill>
                  <a:srgbClr val="3182CE"/>
                </a:solidFill>
                <a:latin typeface="Calibri"/>
              </a:defRPr>
            </a:pPr>
            <a:r>
              <a:t>✔ 2. Bidirectional Edge Deletion</a:t>
            </a:r>
          </a:p>
          <a:p>
            <a:pPr>
              <a:defRPr sz="1000">
                <a:solidFill>
                  <a:srgbClr val="2D3748"/>
                </a:solidFill>
                <a:latin typeface="Calibri"/>
              </a:defRPr>
            </a:pPr>
            <a:r>
              <a:t>   Because road graphs are undirected (nx.Graph), removing edge (u, v) instantly disables travel in both directions (u -&gt; v and v -&gt; u).</a:t>
            </a:r>
          </a:p>
          <a:p>
            <a:pPr>
              <a:defRPr sz="1100" b="1">
                <a:solidFill>
                  <a:srgbClr val="3182CE"/>
                </a:solidFill>
                <a:latin typeface="Calibri"/>
              </a:defRPr>
            </a:pPr>
            <a:r>
              <a:t>✔ 3. Instant UCS Re-Execution</a:t>
            </a:r>
          </a:p>
          <a:p>
            <a:pPr>
              <a:defRPr sz="1000">
                <a:solidFill>
                  <a:srgbClr val="2D3748"/>
                </a:solidFill>
                <a:latin typeface="Calibri"/>
              </a:defRPr>
            </a:pPr>
            <a:r>
              <a:t>   Uniform Cost Search runs on the pruned graph to immediately calculate the next shortest accessible path.</a:t>
            </a:r>
          </a:p>
          <a:p>
            <a:pPr>
              <a:defRPr sz="1100" b="1">
                <a:solidFill>
                  <a:srgbClr val="3182CE"/>
                </a:solidFill>
                <a:latin typeface="Calibri"/>
              </a:defRPr>
            </a:pPr>
            <a:r>
              <a:t>✔ 4. Detour Quantification</a:t>
            </a:r>
          </a:p>
          <a:p>
            <a:pPr>
              <a:defRPr sz="1000">
                <a:solidFill>
                  <a:srgbClr val="2D3748"/>
                </a:solidFill>
                <a:latin typeface="Calibri"/>
              </a:defRPr>
            </a:pPr>
            <a:r>
              <a:t>   Calculates detour penalty: Detour = Updated Distance - Baseline Distance (13 units).</a:t>
            </a:r>
          </a:p>
          <a:p>
            <a:pPr>
              <a:defRPr sz="1100" b="1">
                <a:solidFill>
                  <a:srgbClr val="3182CE"/>
                </a:solidFill>
                <a:latin typeface="Calibri"/>
              </a:defRPr>
            </a:pPr>
            <a:r>
              <a:t>✔ 5. Visual Highlighting</a:t>
            </a:r>
          </a:p>
          <a:p>
            <a:pPr>
              <a:defRPr sz="1000">
                <a:solidFill>
                  <a:srgbClr val="2D3748"/>
                </a:solidFill>
                <a:latin typeface="Calibri"/>
              </a:defRPr>
            </a:pPr>
            <a:r>
              <a:t>   Rerouted route rendered in thick Green (#2F855A); blocked roads rendered in dashed Red (#E53E3E).</a:t>
            </a:r>
          </a:p>
        </p:txBody>
      </p:sp>
      <p:sp>
        <p:nvSpPr>
          <p:cNvPr id="11" name="Rounded Rectangle 10"/>
          <p:cNvSpPr/>
          <p:nvPr/>
        </p:nvSpPr>
        <p:spPr>
          <a:xfrm>
            <a:off x="6126480" y="1417320"/>
            <a:ext cx="5333695" cy="4754880"/>
          </a:xfrm>
          <a:prstGeom prst="roundRect">
            <a:avLst/>
          </a:prstGeom>
          <a:solidFill>
            <a:srgbClr val="F7FAFC"/>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600200"/>
            <a:ext cx="4967935" cy="4389120"/>
          </a:xfrm>
          <a:prstGeom prst="rect">
            <a:avLst/>
          </a:prstGeom>
          <a:noFill/>
        </p:spPr>
        <p:txBody>
          <a:bodyPr wrap="square">
            <a:spAutoFit/>
          </a:bodyPr>
          <a:lstStyle/>
          <a:p>
            <a:pPr algn="ctr">
              <a:defRPr sz="1300" b="1">
                <a:solidFill>
                  <a:srgbClr val="1A365D"/>
                </a:solidFill>
                <a:latin typeface="Calibri"/>
              </a:defRPr>
            </a:pPr>
            <a:r>
              <a:t>📸 INSERT SCREENSHOT: Road Blockage &amp; Green Reroute</a:t>
            </a:r>
          </a:p>
          <a:p>
            <a:pPr algn="ctr">
              <a:defRPr sz="1000">
                <a:solidFill>
                  <a:srgbClr val="718096"/>
                </a:solidFill>
                <a:latin typeface="Calibri"/>
              </a:defRPr>
            </a:pPr>
            <a:r>
              <a:t>Capture the interactive Folium map view with Road B &lt;--&gt; D blocked (red dashed line) and the active evacuation route rerouting dynamically through A -&gt; C -&gt; D -&gt; E -&gt; F (green 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Empirical Testing Scenarios &amp; Verified Results</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10</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graphicFrame>
        <p:nvGraphicFramePr>
          <p:cNvPr id="9" name="Table 8"/>
          <p:cNvGraphicFramePr>
            <a:graphicFrameLocks noGrp="1"/>
          </p:cNvGraphicFramePr>
          <p:nvPr/>
        </p:nvGraphicFramePr>
        <p:xfrm>
          <a:off x="731520" y="1280160"/>
          <a:ext cx="10728655" cy="3200400"/>
        </p:xfrm>
        <a:graphic>
          <a:graphicData uri="http://schemas.openxmlformats.org/drawingml/2006/table">
            <a:tbl>
              <a:tblPr firstRow="1" bandRow="1">
                <a:tableStyleId>{5C22544A-7EE6-4342-B048-85BDC9FD1C3A}</a:tableStyleId>
              </a:tblPr>
              <a:tblGrid>
                <a:gridCol w="2011680"/>
                <a:gridCol w="2011680"/>
                <a:gridCol w="2743200"/>
                <a:gridCol w="1280160"/>
                <a:gridCol w="1188720"/>
                <a:gridCol w="1493215"/>
              </a:tblGrid>
              <a:tr h="400050">
                <a:tc>
                  <a:txBody>
                    <a:bodyPr/>
                    <a:lstStyle/>
                    <a:p>
                      <a:pPr>
                        <a:defRPr sz="1000" b="1">
                          <a:solidFill>
                            <a:srgbClr val="FFFFFF"/>
                          </a:solidFill>
                          <a:latin typeface="Calibri"/>
                        </a:defRPr>
                      </a:pPr>
                      <a:r>
                        <a:t>Scenario</a:t>
                      </a:r>
                    </a:p>
                  </a:txBody>
                  <a:tcPr anchor="ctr">
                    <a:solidFill>
                      <a:srgbClr val="1A365D"/>
                    </a:solidFill>
                  </a:tcPr>
                </a:tc>
                <a:tc>
                  <a:txBody>
                    <a:bodyPr/>
                    <a:lstStyle/>
                    <a:p>
                      <a:pPr>
                        <a:defRPr sz="1000" b="1">
                          <a:solidFill>
                            <a:srgbClr val="FFFFFF"/>
                          </a:solidFill>
                          <a:latin typeface="Calibri"/>
                        </a:defRPr>
                      </a:pPr>
                      <a:r>
                        <a:t>Road Blockage / Hazard</a:t>
                      </a:r>
                    </a:p>
                  </a:txBody>
                  <a:tcPr anchor="ctr">
                    <a:solidFill>
                      <a:srgbClr val="1A365D"/>
                    </a:solidFill>
                  </a:tcPr>
                </a:tc>
                <a:tc>
                  <a:txBody>
                    <a:bodyPr/>
                    <a:lstStyle/>
                    <a:p>
                      <a:pPr>
                        <a:defRPr sz="1000" b="1">
                          <a:solidFill>
                            <a:srgbClr val="FFFFFF"/>
                          </a:solidFill>
                          <a:latin typeface="Calibri"/>
                        </a:defRPr>
                      </a:pPr>
                      <a:r>
                        <a:t>Evacuation Route</a:t>
                      </a:r>
                    </a:p>
                  </a:txBody>
                  <a:tcPr anchor="ctr">
                    <a:solidFill>
                      <a:srgbClr val="1A365D"/>
                    </a:solidFill>
                  </a:tcPr>
                </a:tc>
                <a:tc>
                  <a:txBody>
                    <a:bodyPr/>
                    <a:lstStyle/>
                    <a:p>
                      <a:pPr>
                        <a:defRPr sz="1000" b="1">
                          <a:solidFill>
                            <a:srgbClr val="FFFFFF"/>
                          </a:solidFill>
                          <a:latin typeface="Calibri"/>
                        </a:defRPr>
                      </a:pPr>
                      <a:r>
                        <a:t>Distance</a:t>
                      </a:r>
                    </a:p>
                  </a:txBody>
                  <a:tcPr anchor="ctr">
                    <a:solidFill>
                      <a:srgbClr val="1A365D"/>
                    </a:solidFill>
                  </a:tcPr>
                </a:tc>
                <a:tc>
                  <a:txBody>
                    <a:bodyPr/>
                    <a:lstStyle/>
                    <a:p>
                      <a:pPr>
                        <a:defRPr sz="1000" b="1">
                          <a:solidFill>
                            <a:srgbClr val="FFFFFF"/>
                          </a:solidFill>
                          <a:latin typeface="Calibri"/>
                        </a:defRPr>
                      </a:pPr>
                      <a:r>
                        <a:t>Detour</a:t>
                      </a:r>
                    </a:p>
                  </a:txBody>
                  <a:tcPr anchor="ctr">
                    <a:solidFill>
                      <a:srgbClr val="1A365D"/>
                    </a:solidFill>
                  </a:tcPr>
                </a:tc>
                <a:tc>
                  <a:txBody>
                    <a:bodyPr/>
                    <a:lstStyle/>
                    <a:p>
                      <a:pPr>
                        <a:defRPr sz="1000" b="1">
                          <a:solidFill>
                            <a:srgbClr val="FFFFFF"/>
                          </a:solidFill>
                          <a:latin typeface="Calibri"/>
                        </a:defRPr>
                      </a:pPr>
                      <a:r>
                        <a:t>Status / Outcome</a:t>
                      </a:r>
                    </a:p>
                  </a:txBody>
                  <a:tcPr anchor="ctr">
                    <a:solidFill>
                      <a:srgbClr val="1A365D"/>
                    </a:solidFill>
                  </a:tcPr>
                </a:tc>
              </a:tr>
              <a:tr h="400050">
                <a:tc>
                  <a:txBody>
                    <a:bodyPr/>
                    <a:lstStyle/>
                    <a:p>
                      <a:pPr>
                        <a:defRPr sz="1000">
                          <a:solidFill>
                            <a:srgbClr val="2D3748"/>
                          </a:solidFill>
                          <a:latin typeface="Calibri"/>
                        </a:defRPr>
                      </a:pPr>
                      <a:r>
                        <a:t>1. Baseline</a:t>
                      </a:r>
                    </a:p>
                  </a:txBody>
                  <a:tcPr anchor="ctr">
                    <a:solidFill>
                      <a:srgbClr val="F7FAFC"/>
                    </a:solidFill>
                  </a:tcPr>
                </a:tc>
                <a:tc>
                  <a:txBody>
                    <a:bodyPr/>
                    <a:lstStyle/>
                    <a:p>
                      <a:pPr>
                        <a:defRPr sz="1000">
                          <a:solidFill>
                            <a:srgbClr val="2D3748"/>
                          </a:solidFill>
                          <a:latin typeface="Calibri"/>
                        </a:defRPr>
                      </a:pPr>
                      <a:r>
                        <a:t>None (All open)</a:t>
                      </a:r>
                    </a:p>
                  </a:txBody>
                  <a:tcPr anchor="ctr">
                    <a:solidFill>
                      <a:srgbClr val="F7FAFC"/>
                    </a:solidFill>
                  </a:tcPr>
                </a:tc>
                <a:tc>
                  <a:txBody>
                    <a:bodyPr/>
                    <a:lstStyle/>
                    <a:p>
                      <a:pPr>
                        <a:defRPr sz="1000">
                          <a:solidFill>
                            <a:srgbClr val="2D3748"/>
                          </a:solidFill>
                          <a:latin typeface="Calibri"/>
                        </a:defRPr>
                      </a:pPr>
                      <a:r>
                        <a:t>A -&gt; C -&gt; B -&gt; D -&gt; E -&gt; F</a:t>
                      </a:r>
                    </a:p>
                  </a:txBody>
                  <a:tcPr anchor="ctr">
                    <a:solidFill>
                      <a:srgbClr val="F7FAFC"/>
                    </a:solidFill>
                  </a:tcPr>
                </a:tc>
                <a:tc>
                  <a:txBody>
                    <a:bodyPr/>
                    <a:lstStyle/>
                    <a:p>
                      <a:pPr>
                        <a:defRPr sz="1000">
                          <a:solidFill>
                            <a:srgbClr val="2D3748"/>
                          </a:solidFill>
                          <a:latin typeface="Calibri"/>
                        </a:defRPr>
                      </a:pPr>
                      <a:r>
                        <a:t>13 units</a:t>
                      </a:r>
                    </a:p>
                  </a:txBody>
                  <a:tcPr anchor="ctr">
                    <a:solidFill>
                      <a:srgbClr val="F7FAFC"/>
                    </a:solidFill>
                  </a:tcPr>
                </a:tc>
                <a:tc>
                  <a:txBody>
                    <a:bodyPr/>
                    <a:lstStyle/>
                    <a:p>
                      <a:pPr>
                        <a:defRPr sz="1000">
                          <a:solidFill>
                            <a:srgbClr val="2D3748"/>
                          </a:solidFill>
                          <a:latin typeface="Calibri"/>
                        </a:defRPr>
                      </a:pPr>
                      <a:r>
                        <a:t>0 units</a:t>
                      </a:r>
                    </a:p>
                  </a:txBody>
                  <a:tcPr anchor="ctr">
                    <a:solidFill>
                      <a:srgbClr val="F7FAFC"/>
                    </a:solidFill>
                  </a:tcPr>
                </a:tc>
                <a:tc>
                  <a:txBody>
                    <a:bodyPr/>
                    <a:lstStyle/>
                    <a:p>
                      <a:pPr>
                        <a:defRPr sz="1000">
                          <a:solidFill>
                            <a:srgbClr val="2D3748"/>
                          </a:solidFill>
                          <a:latin typeface="Calibri"/>
                        </a:defRPr>
                      </a:pPr>
                      <a:r>
                        <a:t>Optimal baseline</a:t>
                      </a:r>
                    </a:p>
                  </a:txBody>
                  <a:tcPr anchor="ctr">
                    <a:solidFill>
                      <a:srgbClr val="F7FAFC"/>
                    </a:solidFill>
                  </a:tcPr>
                </a:tc>
              </a:tr>
              <a:tr h="400050">
                <a:tc>
                  <a:txBody>
                    <a:bodyPr/>
                    <a:lstStyle/>
                    <a:p>
                      <a:pPr>
                        <a:defRPr sz="1000">
                          <a:solidFill>
                            <a:srgbClr val="2D3748"/>
                          </a:solidFill>
                          <a:latin typeface="Calibri"/>
                        </a:defRPr>
                      </a:pPr>
                      <a:r>
                        <a:t>2. Single Block</a:t>
                      </a:r>
                    </a:p>
                  </a:txBody>
                  <a:tcPr anchor="ctr">
                    <a:solidFill>
                      <a:srgbClr val="FFFFFF"/>
                    </a:solidFill>
                  </a:tcPr>
                </a:tc>
                <a:tc>
                  <a:txBody>
                    <a:bodyPr/>
                    <a:lstStyle/>
                    <a:p>
                      <a:pPr>
                        <a:defRPr sz="1000">
                          <a:solidFill>
                            <a:srgbClr val="2D3748"/>
                          </a:solidFill>
                          <a:latin typeface="Calibri"/>
                        </a:defRPr>
                      </a:pPr>
                      <a:r>
                        <a:t>Road B &lt;--&gt; D</a:t>
                      </a:r>
                    </a:p>
                  </a:txBody>
                  <a:tcPr anchor="ctr">
                    <a:solidFill>
                      <a:srgbClr val="FFFFFF"/>
                    </a:solidFill>
                  </a:tcPr>
                </a:tc>
                <a:tc>
                  <a:txBody>
                    <a:bodyPr/>
                    <a:lstStyle/>
                    <a:p>
                      <a:pPr>
                        <a:defRPr sz="1000">
                          <a:solidFill>
                            <a:srgbClr val="2D3748"/>
                          </a:solidFill>
                          <a:latin typeface="Calibri"/>
                        </a:defRPr>
                      </a:pPr>
                      <a:r>
                        <a:t>A -&gt; C -&gt; D -&gt; E -&gt; F</a:t>
                      </a:r>
                    </a:p>
                  </a:txBody>
                  <a:tcPr anchor="ctr">
                    <a:solidFill>
                      <a:srgbClr val="FFFFFF"/>
                    </a:solidFill>
                  </a:tcPr>
                </a:tc>
                <a:tc>
                  <a:txBody>
                    <a:bodyPr/>
                    <a:lstStyle/>
                    <a:p>
                      <a:pPr>
                        <a:defRPr sz="1000">
                          <a:solidFill>
                            <a:srgbClr val="2D3748"/>
                          </a:solidFill>
                          <a:latin typeface="Calibri"/>
                        </a:defRPr>
                      </a:pPr>
                      <a:r>
                        <a:t>15 units</a:t>
                      </a:r>
                    </a:p>
                  </a:txBody>
                  <a:tcPr anchor="ctr">
                    <a:solidFill>
                      <a:srgbClr val="FFFFFF"/>
                    </a:solidFill>
                  </a:tcPr>
                </a:tc>
                <a:tc>
                  <a:txBody>
                    <a:bodyPr/>
                    <a:lstStyle/>
                    <a:p>
                      <a:pPr>
                        <a:defRPr sz="1000">
                          <a:solidFill>
                            <a:srgbClr val="2D3748"/>
                          </a:solidFill>
                          <a:latin typeface="Calibri"/>
                        </a:defRPr>
                      </a:pPr>
                      <a:r>
                        <a:t>+2 units</a:t>
                      </a:r>
                    </a:p>
                  </a:txBody>
                  <a:tcPr anchor="ctr">
                    <a:solidFill>
                      <a:srgbClr val="FFFFFF"/>
                    </a:solidFill>
                  </a:tcPr>
                </a:tc>
                <a:tc>
                  <a:txBody>
                    <a:bodyPr/>
                    <a:lstStyle/>
                    <a:p>
                      <a:pPr>
                        <a:defRPr sz="1000">
                          <a:solidFill>
                            <a:srgbClr val="2D3748"/>
                          </a:solidFill>
                          <a:latin typeface="Calibri"/>
                        </a:defRPr>
                      </a:pPr>
                      <a:r>
                        <a:t>Rerouted via C-D</a:t>
                      </a:r>
                    </a:p>
                  </a:txBody>
                  <a:tcPr anchor="ctr">
                    <a:solidFill>
                      <a:srgbClr val="FFFFFF"/>
                    </a:solidFill>
                  </a:tcPr>
                </a:tc>
              </a:tr>
              <a:tr h="400050">
                <a:tc>
                  <a:txBody>
                    <a:bodyPr/>
                    <a:lstStyle/>
                    <a:p>
                      <a:pPr>
                        <a:defRPr sz="1000">
                          <a:solidFill>
                            <a:srgbClr val="2D3748"/>
                          </a:solidFill>
                          <a:latin typeface="Calibri"/>
                        </a:defRPr>
                      </a:pPr>
                      <a:r>
                        <a:t>3. Multiple Block</a:t>
                      </a:r>
                    </a:p>
                  </a:txBody>
                  <a:tcPr anchor="ctr">
                    <a:solidFill>
                      <a:srgbClr val="F7FAFC"/>
                    </a:solidFill>
                  </a:tcPr>
                </a:tc>
                <a:tc>
                  <a:txBody>
                    <a:bodyPr/>
                    <a:lstStyle/>
                    <a:p>
                      <a:pPr>
                        <a:defRPr sz="1000">
                          <a:solidFill>
                            <a:srgbClr val="2D3748"/>
                          </a:solidFill>
                          <a:latin typeface="Calibri"/>
                        </a:defRPr>
                      </a:pPr>
                      <a:r>
                        <a:t>Roads B-D &amp; C-E</a:t>
                      </a:r>
                    </a:p>
                  </a:txBody>
                  <a:tcPr anchor="ctr">
                    <a:solidFill>
                      <a:srgbClr val="F7FAFC"/>
                    </a:solidFill>
                  </a:tcPr>
                </a:tc>
                <a:tc>
                  <a:txBody>
                    <a:bodyPr/>
                    <a:lstStyle/>
                    <a:p>
                      <a:pPr>
                        <a:defRPr sz="1000">
                          <a:solidFill>
                            <a:srgbClr val="2D3748"/>
                          </a:solidFill>
                          <a:latin typeface="Calibri"/>
                        </a:defRPr>
                      </a:pPr>
                      <a:r>
                        <a:t>A -&gt; C -&gt; D -&gt; E -&gt; F</a:t>
                      </a:r>
                    </a:p>
                  </a:txBody>
                  <a:tcPr anchor="ctr">
                    <a:solidFill>
                      <a:srgbClr val="F7FAFC"/>
                    </a:solidFill>
                  </a:tcPr>
                </a:tc>
                <a:tc>
                  <a:txBody>
                    <a:bodyPr/>
                    <a:lstStyle/>
                    <a:p>
                      <a:pPr>
                        <a:defRPr sz="1000">
                          <a:solidFill>
                            <a:srgbClr val="2D3748"/>
                          </a:solidFill>
                          <a:latin typeface="Calibri"/>
                        </a:defRPr>
                      </a:pPr>
                      <a:r>
                        <a:t>15 units</a:t>
                      </a:r>
                    </a:p>
                  </a:txBody>
                  <a:tcPr anchor="ctr">
                    <a:solidFill>
                      <a:srgbClr val="F7FAFC"/>
                    </a:solidFill>
                  </a:tcPr>
                </a:tc>
                <a:tc>
                  <a:txBody>
                    <a:bodyPr/>
                    <a:lstStyle/>
                    <a:p>
                      <a:pPr>
                        <a:defRPr sz="1000">
                          <a:solidFill>
                            <a:srgbClr val="2D3748"/>
                          </a:solidFill>
                          <a:latin typeface="Calibri"/>
                        </a:defRPr>
                      </a:pPr>
                      <a:r>
                        <a:t>+2 units</a:t>
                      </a:r>
                    </a:p>
                  </a:txBody>
                  <a:tcPr anchor="ctr">
                    <a:solidFill>
                      <a:srgbClr val="F7FAFC"/>
                    </a:solidFill>
                  </a:tcPr>
                </a:tc>
                <a:tc>
                  <a:txBody>
                    <a:bodyPr/>
                    <a:lstStyle/>
                    <a:p>
                      <a:pPr>
                        <a:defRPr sz="1000">
                          <a:solidFill>
                            <a:srgbClr val="2D3748"/>
                          </a:solidFill>
                          <a:latin typeface="Calibri"/>
                        </a:defRPr>
                      </a:pPr>
                      <a:r>
                        <a:t>Corridor C-D used</a:t>
                      </a:r>
                    </a:p>
                  </a:txBody>
                  <a:tcPr anchor="ctr">
                    <a:solidFill>
                      <a:srgbClr val="F7FAFC"/>
                    </a:solidFill>
                  </a:tcPr>
                </a:tc>
              </a:tr>
              <a:tr h="400050">
                <a:tc>
                  <a:txBody>
                    <a:bodyPr/>
                    <a:lstStyle/>
                    <a:p>
                      <a:pPr>
                        <a:defRPr sz="1000">
                          <a:solidFill>
                            <a:srgbClr val="2D3748"/>
                          </a:solidFill>
                          <a:latin typeface="Calibri"/>
                        </a:defRPr>
                      </a:pPr>
                      <a:r>
                        <a:t>4. Critical Isolation</a:t>
                      </a:r>
                    </a:p>
                  </a:txBody>
                  <a:tcPr anchor="ctr">
                    <a:solidFill>
                      <a:srgbClr val="FFFFFF"/>
                    </a:solidFill>
                  </a:tcPr>
                </a:tc>
                <a:tc>
                  <a:txBody>
                    <a:bodyPr/>
                    <a:lstStyle/>
                    <a:p>
                      <a:pPr>
                        <a:defRPr sz="1000">
                          <a:solidFill>
                            <a:srgbClr val="2D3748"/>
                          </a:solidFill>
                          <a:latin typeface="Calibri"/>
                        </a:defRPr>
                      </a:pPr>
                      <a:r>
                        <a:t>Roads D-F &amp; E-F</a:t>
                      </a:r>
                    </a:p>
                  </a:txBody>
                  <a:tcPr anchor="ctr">
                    <a:solidFill>
                      <a:srgbClr val="FFFFFF"/>
                    </a:solidFill>
                  </a:tcPr>
                </a:tc>
                <a:tc>
                  <a:txBody>
                    <a:bodyPr/>
                    <a:lstStyle/>
                    <a:p>
                      <a:pPr>
                        <a:defRPr sz="1000">
                          <a:solidFill>
                            <a:srgbClr val="2D3748"/>
                          </a:solidFill>
                          <a:latin typeface="Calibri"/>
                        </a:defRPr>
                      </a:pPr>
                      <a:r>
                        <a:t>None (Blocked)</a:t>
                      </a:r>
                    </a:p>
                  </a:txBody>
                  <a:tcPr anchor="ctr">
                    <a:solidFill>
                      <a:srgbClr val="FFFFFF"/>
                    </a:solidFill>
                  </a:tcPr>
                </a:tc>
                <a:tc>
                  <a:txBody>
                    <a:bodyPr/>
                    <a:lstStyle/>
                    <a:p>
                      <a:pPr>
                        <a:defRPr sz="1000">
                          <a:solidFill>
                            <a:srgbClr val="2D3748"/>
                          </a:solidFill>
                          <a:latin typeface="Calibri"/>
                        </a:defRPr>
                      </a:pPr>
                      <a:r>
                        <a:t>Infinite (inf)</a:t>
                      </a:r>
                    </a:p>
                  </a:txBody>
                  <a:tcPr anchor="ctr">
                    <a:solidFill>
                      <a:srgbClr val="FFFFFF"/>
                    </a:solidFill>
                  </a:tcPr>
                </a:tc>
                <a:tc>
                  <a:txBody>
                    <a:bodyPr/>
                    <a:lstStyle/>
                    <a:p>
                      <a:pPr>
                        <a:defRPr sz="1000">
                          <a:solidFill>
                            <a:srgbClr val="2D3748"/>
                          </a:solidFill>
                          <a:latin typeface="Calibri"/>
                        </a:defRPr>
                      </a:pPr>
                      <a:r>
                        <a:t>N/A</a:t>
                      </a:r>
                    </a:p>
                  </a:txBody>
                  <a:tcPr anchor="ctr">
                    <a:solidFill>
                      <a:srgbClr val="FFFFFF"/>
                    </a:solidFill>
                  </a:tcPr>
                </a:tc>
                <a:tc>
                  <a:txBody>
                    <a:bodyPr/>
                    <a:lstStyle/>
                    <a:p>
                      <a:pPr>
                        <a:defRPr sz="1000">
                          <a:solidFill>
                            <a:srgbClr val="2D3748"/>
                          </a:solidFill>
                          <a:latin typeface="Calibri"/>
                        </a:defRPr>
                      </a:pPr>
                      <a:r>
                        <a:t>Shelter Unreachable 🚨</a:t>
                      </a:r>
                    </a:p>
                  </a:txBody>
                  <a:tcPr anchor="ctr">
                    <a:solidFill>
                      <a:srgbClr val="FFFFFF"/>
                    </a:solidFill>
                  </a:tcPr>
                </a:tc>
              </a:tr>
              <a:tr h="400050">
                <a:tc>
                  <a:txBody>
                    <a:bodyPr/>
                    <a:lstStyle/>
                    <a:p>
                      <a:pPr>
                        <a:defRPr sz="1000">
                          <a:solidFill>
                            <a:srgbClr val="2D3748"/>
                          </a:solidFill>
                          <a:latin typeface="Calibri"/>
                        </a:defRPr>
                      </a:pPr>
                      <a:r>
                        <a:t>5. Isolated Node Test</a:t>
                      </a:r>
                    </a:p>
                  </a:txBody>
                  <a:tcPr anchor="ctr">
                    <a:solidFill>
                      <a:srgbClr val="F7FAFC"/>
                    </a:solidFill>
                  </a:tcPr>
                </a:tc>
                <a:tc>
                  <a:txBody>
                    <a:bodyPr/>
                    <a:lstStyle/>
                    <a:p>
                      <a:pPr>
                        <a:defRPr sz="1000">
                          <a:solidFill>
                            <a:srgbClr val="2D3748"/>
                          </a:solidFill>
                          <a:latin typeface="Calibri"/>
                        </a:defRPr>
                      </a:pPr>
                      <a:r>
                        <a:t>Node Z (0 edges)</a:t>
                      </a:r>
                    </a:p>
                  </a:txBody>
                  <a:tcPr anchor="ctr">
                    <a:solidFill>
                      <a:srgbClr val="F7FAFC"/>
                    </a:solidFill>
                  </a:tcPr>
                </a:tc>
                <a:tc>
                  <a:txBody>
                    <a:bodyPr/>
                    <a:lstStyle/>
                    <a:p>
                      <a:pPr>
                        <a:defRPr sz="1000">
                          <a:solidFill>
                            <a:srgbClr val="2D3748"/>
                          </a:solidFill>
                          <a:latin typeface="Calibri"/>
                        </a:defRPr>
                      </a:pPr>
                      <a:r>
                        <a:t>None (Unreachable)</a:t>
                      </a:r>
                    </a:p>
                  </a:txBody>
                  <a:tcPr anchor="ctr">
                    <a:solidFill>
                      <a:srgbClr val="F7FAFC"/>
                    </a:solidFill>
                  </a:tcPr>
                </a:tc>
                <a:tc>
                  <a:txBody>
                    <a:bodyPr/>
                    <a:lstStyle/>
                    <a:p>
                      <a:pPr>
                        <a:defRPr sz="1000">
                          <a:solidFill>
                            <a:srgbClr val="2D3748"/>
                          </a:solidFill>
                          <a:latin typeface="Calibri"/>
                        </a:defRPr>
                      </a:pPr>
                      <a:r>
                        <a:t>Infinite (inf)</a:t>
                      </a:r>
                    </a:p>
                  </a:txBody>
                  <a:tcPr anchor="ctr">
                    <a:solidFill>
                      <a:srgbClr val="F7FAFC"/>
                    </a:solidFill>
                  </a:tcPr>
                </a:tc>
                <a:tc>
                  <a:txBody>
                    <a:bodyPr/>
                    <a:lstStyle/>
                    <a:p>
                      <a:pPr>
                        <a:defRPr sz="1000">
                          <a:solidFill>
                            <a:srgbClr val="2D3748"/>
                          </a:solidFill>
                          <a:latin typeface="Calibri"/>
                        </a:defRPr>
                      </a:pPr>
                      <a:r>
                        <a:t>N/A</a:t>
                      </a:r>
                    </a:p>
                  </a:txBody>
                  <a:tcPr anchor="ctr">
                    <a:solidFill>
                      <a:srgbClr val="F7FAFC"/>
                    </a:solidFill>
                  </a:tcPr>
                </a:tc>
                <a:tc>
                  <a:txBody>
                    <a:bodyPr/>
                    <a:lstStyle/>
                    <a:p>
                      <a:pPr>
                        <a:defRPr sz="1000">
                          <a:solidFill>
                            <a:srgbClr val="2D3748"/>
                          </a:solidFill>
                          <a:latin typeface="Calibri"/>
                        </a:defRPr>
                      </a:pPr>
                      <a:r>
                        <a:t>Handled cleanly</a:t>
                      </a:r>
                    </a:p>
                  </a:txBody>
                  <a:tcPr anchor="ctr">
                    <a:solidFill>
                      <a:srgbClr val="F7FAFC"/>
                    </a:solidFill>
                  </a:tcPr>
                </a:tc>
              </a:tr>
              <a:tr h="400050">
                <a:tc>
                  <a:txBody>
                    <a:bodyPr/>
                    <a:lstStyle/>
                    <a:p>
                      <a:pPr>
                        <a:defRPr sz="1000">
                          <a:solidFill>
                            <a:srgbClr val="2D3748"/>
                          </a:solidFill>
                          <a:latin typeface="Calibri"/>
                        </a:defRPr>
                      </a:pPr>
                      <a:r>
                        <a:t>6. Real Multi-Route</a:t>
                      </a:r>
                    </a:p>
                  </a:txBody>
                  <a:tcPr anchor="ctr">
                    <a:solidFill>
                      <a:srgbClr val="FFFFFF"/>
                    </a:solidFill>
                  </a:tcPr>
                </a:tc>
                <a:tc>
                  <a:txBody>
                    <a:bodyPr/>
                    <a:lstStyle/>
                    <a:p>
                      <a:pPr>
                        <a:defRPr sz="1000">
                          <a:solidFill>
                            <a:srgbClr val="2D3748"/>
                          </a:solidFill>
                          <a:latin typeface="Calibri"/>
                        </a:defRPr>
                      </a:pPr>
                      <a:r>
                        <a:t>Janpath Hazard (400m)</a:t>
                      </a:r>
                    </a:p>
                  </a:txBody>
                  <a:tcPr anchor="ctr">
                    <a:solidFill>
                      <a:srgbClr val="FFFFFF"/>
                    </a:solidFill>
                  </a:tcPr>
                </a:tc>
                <a:tc>
                  <a:txBody>
                    <a:bodyPr/>
                    <a:lstStyle/>
                    <a:p>
                      <a:pPr>
                        <a:defRPr sz="1000">
                          <a:solidFill>
                            <a:srgbClr val="2D3748"/>
                          </a:solidFill>
                          <a:latin typeface="Calibri"/>
                        </a:defRPr>
                      </a:pPr>
                      <a:r>
                        <a:t>Primary / Alt 1 / Alt 2 / Hazard-Avoid</a:t>
                      </a:r>
                    </a:p>
                  </a:txBody>
                  <a:tcPr anchor="ctr">
                    <a:solidFill>
                      <a:srgbClr val="FFFFFF"/>
                    </a:solidFill>
                  </a:tcPr>
                </a:tc>
                <a:tc>
                  <a:txBody>
                    <a:bodyPr/>
                    <a:lstStyle/>
                    <a:p>
                      <a:pPr>
                        <a:defRPr sz="1000">
                          <a:solidFill>
                            <a:srgbClr val="2D3748"/>
                          </a:solidFill>
                          <a:latin typeface="Calibri"/>
                        </a:defRPr>
                      </a:pPr>
                      <a:r>
                        <a:t>4.19 – 5.25 km</a:t>
                      </a:r>
                    </a:p>
                  </a:txBody>
                  <a:tcPr anchor="ctr">
                    <a:solidFill>
                      <a:srgbClr val="FFFFFF"/>
                    </a:solidFill>
                  </a:tcPr>
                </a:tc>
                <a:tc>
                  <a:txBody>
                    <a:bodyPr/>
                    <a:lstStyle/>
                    <a:p>
                      <a:pPr>
                        <a:defRPr sz="1000">
                          <a:solidFill>
                            <a:srgbClr val="2D3748"/>
                          </a:solidFill>
                          <a:latin typeface="Calibri"/>
                        </a:defRPr>
                      </a:pPr>
                      <a:r>
                        <a:t>Variable</a:t>
                      </a:r>
                    </a:p>
                  </a:txBody>
                  <a:tcPr anchor="ctr">
                    <a:solidFill>
                      <a:srgbClr val="FFFFFF"/>
                    </a:solidFill>
                  </a:tcPr>
                </a:tc>
                <a:tc>
                  <a:txBody>
                    <a:bodyPr/>
                    <a:lstStyle/>
                    <a:p>
                      <a:pPr>
                        <a:defRPr sz="1000">
                          <a:solidFill>
                            <a:srgbClr val="2D3748"/>
                          </a:solidFill>
                          <a:latin typeface="Calibri"/>
                        </a:defRPr>
                      </a:pPr>
                      <a:r>
                        <a:t>5 Real Routes Found</a:t>
                      </a:r>
                    </a:p>
                  </a:txBody>
                  <a:tcPr anchor="ctr">
                    <a:solidFill>
                      <a:srgbClr val="FFFFFF"/>
                    </a:solidFill>
                  </a:tcPr>
                </a:tc>
              </a:tr>
              <a:tr h="400050">
                <a:tc>
                  <a:txBody>
                    <a:bodyPr/>
                    <a:lstStyle/>
                    <a:p>
                      <a:pPr>
                        <a:defRPr sz="1000">
                          <a:solidFill>
                            <a:srgbClr val="2D3748"/>
                          </a:solidFill>
                          <a:latin typeface="Calibri"/>
                        </a:defRPr>
                      </a:pPr>
                      <a:r>
                        <a:t>7. K-Shortest Paths</a:t>
                      </a:r>
                    </a:p>
                  </a:txBody>
                  <a:tcPr anchor="ctr">
                    <a:solidFill>
                      <a:srgbClr val="F7FAFC"/>
                    </a:solidFill>
                  </a:tcPr>
                </a:tc>
                <a:tc>
                  <a:txBody>
                    <a:bodyPr/>
                    <a:lstStyle/>
                    <a:p>
                      <a:pPr>
                        <a:defRPr sz="1000">
                          <a:solidFill>
                            <a:srgbClr val="2D3748"/>
                          </a:solidFill>
                          <a:latin typeface="Calibri"/>
                        </a:defRPr>
                      </a:pPr>
                      <a:r>
                        <a:t>None (Top 3)</a:t>
                      </a:r>
                    </a:p>
                  </a:txBody>
                  <a:tcPr anchor="ctr">
                    <a:solidFill>
                      <a:srgbClr val="F7FAFC"/>
                    </a:solidFill>
                  </a:tcPr>
                </a:tc>
                <a:tc>
                  <a:txBody>
                    <a:bodyPr/>
                    <a:lstStyle/>
                    <a:p>
                      <a:pPr>
                        <a:defRPr sz="1000">
                          <a:solidFill>
                            <a:srgbClr val="2D3748"/>
                          </a:solidFill>
                          <a:latin typeface="Calibri"/>
                        </a:defRPr>
                      </a:pPr>
                      <a:r>
                        <a:t>Path 1 (13u) / Path 2 (14u) / Path 3 (14u)</a:t>
                      </a:r>
                    </a:p>
                  </a:txBody>
                  <a:tcPr anchor="ctr">
                    <a:solidFill>
                      <a:srgbClr val="F7FAFC"/>
                    </a:solidFill>
                  </a:tcPr>
                </a:tc>
                <a:tc>
                  <a:txBody>
                    <a:bodyPr/>
                    <a:lstStyle/>
                    <a:p>
                      <a:pPr>
                        <a:defRPr sz="1000">
                          <a:solidFill>
                            <a:srgbClr val="2D3748"/>
                          </a:solidFill>
                          <a:latin typeface="Calibri"/>
                        </a:defRPr>
                      </a:pPr>
                      <a:r>
                        <a:t>13 – 14 units</a:t>
                      </a:r>
                    </a:p>
                  </a:txBody>
                  <a:tcPr anchor="ctr">
                    <a:solidFill>
                      <a:srgbClr val="F7FAFC"/>
                    </a:solidFill>
                  </a:tcPr>
                </a:tc>
                <a:tc>
                  <a:txBody>
                    <a:bodyPr/>
                    <a:lstStyle/>
                    <a:p>
                      <a:pPr>
                        <a:defRPr sz="1000">
                          <a:solidFill>
                            <a:srgbClr val="2D3748"/>
                          </a:solidFill>
                          <a:latin typeface="Calibri"/>
                        </a:defRPr>
                      </a:pPr>
                      <a:r>
                        <a:t>+1 unit</a:t>
                      </a:r>
                    </a:p>
                  </a:txBody>
                  <a:tcPr anchor="ctr">
                    <a:solidFill>
                      <a:srgbClr val="F7FAFC"/>
                    </a:solidFill>
                  </a:tcPr>
                </a:tc>
                <a:tc>
                  <a:txBody>
                    <a:bodyPr/>
                    <a:lstStyle/>
                    <a:p>
                      <a:pPr>
                        <a:defRPr sz="1000">
                          <a:solidFill>
                            <a:srgbClr val="2D3748"/>
                          </a:solidFill>
                          <a:latin typeface="Calibri"/>
                        </a:defRPr>
                      </a:pPr>
                      <a:r>
                        <a:t>NetworkX Simple Paths</a:t>
                      </a:r>
                    </a:p>
                  </a:txBody>
                  <a:tcPr anchor="ctr">
                    <a:solidFill>
                      <a:srgbClr val="F7FAFC"/>
                    </a:solidFill>
                  </a:tcPr>
                </a:tc>
              </a:tr>
            </a:tbl>
          </a:graphicData>
        </a:graphic>
      </p:graphicFrame>
      <p:sp>
        <p:nvSpPr>
          <p:cNvPr id="10" name="Rounded Rectangle 9"/>
          <p:cNvSpPr/>
          <p:nvPr/>
        </p:nvSpPr>
        <p:spPr>
          <a:xfrm>
            <a:off x="731520" y="4617720"/>
            <a:ext cx="5120640" cy="1645920"/>
          </a:xfrm>
          <a:prstGeom prst="roundRect">
            <a:avLst/>
          </a:prstGeom>
          <a:solidFill>
            <a:srgbClr val="F7FAFC"/>
          </a:solidFill>
          <a:ln w="1270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709160"/>
            <a:ext cx="4754880" cy="1463040"/>
          </a:xfrm>
          <a:prstGeom prst="rect">
            <a:avLst/>
          </a:prstGeom>
          <a:noFill/>
        </p:spPr>
        <p:txBody>
          <a:bodyPr wrap="square">
            <a:spAutoFit/>
          </a:bodyPr>
          <a:lstStyle/>
          <a:p>
            <a:pPr>
              <a:defRPr sz="1300" b="1">
                <a:solidFill>
                  <a:srgbClr val="1A365D"/>
                </a:solidFill>
                <a:latin typeface="Calibri"/>
              </a:defRPr>
            </a:pPr>
            <a:r>
              <a:t>🔍 Key Testing Takeaway</a:t>
            </a:r>
          </a:p>
          <a:p>
            <a:pPr>
              <a:defRPr sz="1000">
                <a:solidFill>
                  <a:srgbClr val="2D3748"/>
                </a:solidFill>
                <a:latin typeface="Calibri"/>
              </a:defRPr>
            </a:pPr>
            <a:r>
              <a:t>In Scenario 4 and 5, when all entrance roads into Shelter F are cut off, the search queue exhausts safely and returns (None, inf) without crashing. The dashboard detects this and presents a clear shelter-in-place warning.</a:t>
            </a:r>
          </a:p>
        </p:txBody>
      </p:sp>
      <p:sp>
        <p:nvSpPr>
          <p:cNvPr id="12" name="Rounded Rectangle 11"/>
          <p:cNvSpPr/>
          <p:nvPr/>
        </p:nvSpPr>
        <p:spPr>
          <a:xfrm>
            <a:off x="6126480" y="4617720"/>
            <a:ext cx="5333695" cy="1645920"/>
          </a:xfrm>
          <a:prstGeom prst="roundRect">
            <a:avLst/>
          </a:prstGeom>
          <a:solidFill>
            <a:srgbClr val="F7FAFC"/>
          </a:solidFill>
          <a:ln w="19050">
            <a:solidFill>
              <a:srgbClr val="318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4800600"/>
            <a:ext cx="4967935" cy="1280160"/>
          </a:xfrm>
          <a:prstGeom prst="rect">
            <a:avLst/>
          </a:prstGeom>
          <a:noFill/>
        </p:spPr>
        <p:txBody>
          <a:bodyPr wrap="square">
            <a:spAutoFit/>
          </a:bodyPr>
          <a:lstStyle/>
          <a:p>
            <a:pPr algn="ctr">
              <a:defRPr sz="1300" b="1">
                <a:solidFill>
                  <a:srgbClr val="1A365D"/>
                </a:solidFill>
                <a:latin typeface="Calibri"/>
              </a:defRPr>
            </a:pPr>
            <a:r>
              <a:t>📸 INSERT SCREENSHOT: Unreachable Shelter Alert</a:t>
            </a:r>
          </a:p>
          <a:p>
            <a:pPr algn="ctr">
              <a:defRPr sz="1000">
                <a:solidFill>
                  <a:srgbClr val="718096"/>
                </a:solidFill>
                <a:latin typeface="Calibri"/>
              </a:defRPr>
            </a:pPr>
            <a:r>
              <a:t>Capture the red Streamlit warning banner: '🚨 CRITICAL ALERT: DESTINATION UNREACHABLE! All corridors to Safe Destination F are severed.'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Current Limitations &amp; Future Scope</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11</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5120640"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4754880" cy="4389120"/>
          </a:xfrm>
          <a:prstGeom prst="rect">
            <a:avLst/>
          </a:prstGeom>
          <a:noFill/>
        </p:spPr>
        <p:txBody>
          <a:bodyPr wrap="square">
            <a:spAutoFit/>
          </a:bodyPr>
          <a:lstStyle/>
          <a:p>
            <a:pPr>
              <a:defRPr sz="1500" b="1">
                <a:solidFill>
                  <a:srgbClr val="E53E3E"/>
                </a:solidFill>
                <a:latin typeface="Calibri"/>
              </a:defRPr>
            </a:pPr>
            <a:r>
              <a:t>⚠️ Current Project Limitations</a:t>
            </a:r>
          </a:p>
          <a:p>
            <a:pPr>
              <a:defRPr sz="1100" b="1">
                <a:solidFill>
                  <a:srgbClr val="2D3748"/>
                </a:solidFill>
                <a:latin typeface="Calibri"/>
              </a:defRPr>
            </a:pPr>
            <a:r>
              <a:t>• Simulated Coordinates</a:t>
            </a:r>
          </a:p>
          <a:p>
            <a:pPr>
              <a:defRPr sz="1000">
                <a:solidFill>
                  <a:srgbClr val="718096"/>
                </a:solidFill>
                <a:latin typeface="Calibri"/>
              </a:defRPr>
            </a:pPr>
            <a:r>
              <a:t>   Intersections use mock coordinates for visual layout rather than surveyed municipal GIS data.</a:t>
            </a:r>
          </a:p>
          <a:p>
            <a:pPr>
              <a:defRPr sz="1100" b="1">
                <a:solidFill>
                  <a:srgbClr val="2D3748"/>
                </a:solidFill>
                <a:latin typeface="Calibri"/>
              </a:defRPr>
            </a:pPr>
            <a:r>
              <a:t>• Static Distance Weights</a:t>
            </a:r>
          </a:p>
          <a:p>
            <a:pPr>
              <a:defRPr sz="1000">
                <a:solidFill>
                  <a:srgbClr val="718096"/>
                </a:solidFill>
                <a:latin typeface="Calibri"/>
              </a:defRPr>
            </a:pPr>
            <a:r>
              <a:t>   Edge weights model physical length only; they do not factor in dynamic vehicle congestion or road width.</a:t>
            </a:r>
          </a:p>
          <a:p>
            <a:pPr>
              <a:defRPr sz="1100" b="1">
                <a:solidFill>
                  <a:srgbClr val="2D3748"/>
                </a:solidFill>
                <a:latin typeface="Calibri"/>
              </a:defRPr>
            </a:pPr>
            <a:r>
              <a:t>• Binary Road States</a:t>
            </a:r>
          </a:p>
          <a:p>
            <a:pPr>
              <a:defRPr sz="1000">
                <a:solidFill>
                  <a:srgbClr val="718096"/>
                </a:solidFill>
                <a:latin typeface="Calibri"/>
              </a:defRPr>
            </a:pPr>
            <a:r>
              <a:t>   Roads are modeled as either 100% open or 100% closed, without partial lane restrictions.</a:t>
            </a:r>
          </a:p>
          <a:p>
            <a:pPr>
              <a:defRPr sz="1100" b="1">
                <a:solidFill>
                  <a:srgbClr val="2D3748"/>
                </a:solidFill>
                <a:latin typeface="Calibri"/>
              </a:defRPr>
            </a:pPr>
            <a:r>
              <a:t>• Single-Agent Routing</a:t>
            </a:r>
          </a:p>
          <a:p>
            <a:pPr>
              <a:defRPr sz="1000">
                <a:solidFill>
                  <a:srgbClr val="718096"/>
                </a:solidFill>
                <a:latin typeface="Calibri"/>
              </a:defRPr>
            </a:pPr>
            <a:r>
              <a:t>   Calculates a single evacuation route at a time; does not simulate multi-vehicle traffic flow or bottleneck jams.</a:t>
            </a:r>
          </a:p>
          <a:p>
            <a:pPr>
              <a:defRPr sz="1100" b="1">
                <a:solidFill>
                  <a:srgbClr val="2D3748"/>
                </a:solidFill>
                <a:latin typeface="Calibri"/>
              </a:defRPr>
            </a:pPr>
            <a:r>
              <a:t>• No Real-World Certification</a:t>
            </a:r>
          </a:p>
          <a:p>
            <a:pPr>
              <a:defRPr sz="1000">
                <a:solidFill>
                  <a:srgbClr val="718096"/>
                </a:solidFill>
                <a:latin typeface="Calibri"/>
              </a:defRPr>
            </a:pPr>
            <a:r>
              <a:t>   Educational prototype; not approved by disaster management agencies for physical evacuation.</a:t>
            </a:r>
          </a:p>
        </p:txBody>
      </p:sp>
      <p:sp>
        <p:nvSpPr>
          <p:cNvPr id="11" name="Rounded Rectangle 10"/>
          <p:cNvSpPr/>
          <p:nvPr/>
        </p:nvSpPr>
        <p:spPr>
          <a:xfrm>
            <a:off x="6339535" y="1417320"/>
            <a:ext cx="5120640" cy="475488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22415" y="1554480"/>
            <a:ext cx="4754880" cy="4389120"/>
          </a:xfrm>
          <a:prstGeom prst="rect">
            <a:avLst/>
          </a:prstGeom>
          <a:noFill/>
        </p:spPr>
        <p:txBody>
          <a:bodyPr wrap="square">
            <a:spAutoFit/>
          </a:bodyPr>
          <a:lstStyle/>
          <a:p>
            <a:pPr>
              <a:defRPr sz="1500" b="1">
                <a:solidFill>
                  <a:srgbClr val="2F855A"/>
                </a:solidFill>
                <a:latin typeface="Calibri"/>
              </a:defRPr>
            </a:pPr>
            <a:r>
              <a:t>🚀 Future Research &amp; Enhancements</a:t>
            </a:r>
          </a:p>
          <a:p>
            <a:pPr>
              <a:defRPr sz="1100" b="1">
                <a:solidFill>
                  <a:srgbClr val="1A365D"/>
                </a:solidFill>
                <a:latin typeface="Calibri"/>
              </a:defRPr>
            </a:pPr>
            <a:r>
              <a:t>✔ Real-World GIS with OSMnx</a:t>
            </a:r>
          </a:p>
          <a:p>
            <a:pPr>
              <a:defRPr sz="1000">
                <a:solidFill>
                  <a:srgbClr val="2D3748"/>
                </a:solidFill>
                <a:latin typeface="Calibri"/>
              </a:defRPr>
            </a:pPr>
            <a:r>
              <a:t>   Ingest genuine municipal road networks directly from OpenStreetMap using Python's OSMnx library.</a:t>
            </a:r>
          </a:p>
          <a:p>
            <a:pPr>
              <a:defRPr sz="1100" b="1">
                <a:solidFill>
                  <a:srgbClr val="1A365D"/>
                </a:solidFill>
                <a:latin typeface="Calibri"/>
              </a:defRPr>
            </a:pPr>
            <a:r>
              <a:t>✔ Dynamic Traffic Cost Functions</a:t>
            </a:r>
          </a:p>
          <a:p>
            <a:pPr>
              <a:defRPr sz="1000">
                <a:solidFill>
                  <a:srgbClr val="2D3748"/>
                </a:solidFill>
                <a:latin typeface="Calibri"/>
              </a:defRPr>
            </a:pPr>
            <a:r>
              <a:t>   Incorporate live congestion indices, weather data, and road slope into edge cost calculations.</a:t>
            </a:r>
          </a:p>
          <a:p>
            <a:pPr>
              <a:defRPr sz="1100" b="1">
                <a:solidFill>
                  <a:srgbClr val="1A365D"/>
                </a:solidFill>
                <a:latin typeface="Calibri"/>
              </a:defRPr>
            </a:pPr>
            <a:r>
              <a:t>✔ Multi-Shelter Optimization</a:t>
            </a:r>
          </a:p>
          <a:p>
            <a:pPr>
              <a:defRPr sz="1000">
                <a:solidFill>
                  <a:srgbClr val="2D3748"/>
                </a:solidFill>
                <a:latin typeface="Calibri"/>
              </a:defRPr>
            </a:pPr>
            <a:r>
              <a:t>   Evaluate multiple shelters simultaneously and assign evacuees to the nearest accessible facility.</a:t>
            </a:r>
          </a:p>
          <a:p>
            <a:pPr>
              <a:defRPr sz="1100" b="1">
                <a:solidFill>
                  <a:srgbClr val="1A365D"/>
                </a:solidFill>
                <a:latin typeface="Calibri"/>
              </a:defRPr>
            </a:pPr>
            <a:r>
              <a:t>✔ Multi-Agent Simulation (MAS)</a:t>
            </a:r>
          </a:p>
          <a:p>
            <a:pPr>
              <a:defRPr sz="1000">
                <a:solidFill>
                  <a:srgbClr val="2D3748"/>
                </a:solidFill>
                <a:latin typeface="Calibri"/>
              </a:defRPr>
            </a:pPr>
            <a:r>
              <a:t>   Simulate hundreds of evacuating vehicles concurrently to observe bottleneck formation and optimize dispersal.</a:t>
            </a:r>
          </a:p>
          <a:p>
            <a:pPr>
              <a:defRPr sz="1100" b="1">
                <a:solidFill>
                  <a:srgbClr val="1A365D"/>
                </a:solidFill>
                <a:latin typeface="Calibri"/>
              </a:defRPr>
            </a:pPr>
            <a:r>
              <a:t>✔ Mobile Emergency Alerts</a:t>
            </a:r>
          </a:p>
          <a:p>
            <a:pPr>
              <a:defRPr sz="1000">
                <a:solidFill>
                  <a:srgbClr val="2D3748"/>
                </a:solidFill>
                <a:latin typeface="Calibri"/>
              </a:defRPr>
            </a:pPr>
            <a:r>
              <a:t>   Deploy progressive web app (PWA) notifications to push dynamic rerouting alerts to civilian smartphones.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
            <a:ext cx="9144000" cy="256032"/>
          </a:xfrm>
          <a:prstGeom prst="rect">
            <a:avLst/>
          </a:prstGeom>
          <a:noFill/>
        </p:spPr>
        <p:txBody>
          <a:bodyPr wrap="square">
            <a:spAutoFit/>
          </a:bodyPr>
          <a:lstStyle/>
          <a:p>
            <a:pPr>
              <a:defRPr sz="1000" b="1">
                <a:solidFill>
                  <a:srgbClr val="3182CE"/>
                </a:solidFill>
                <a:latin typeface="Calibri"/>
              </a:defRPr>
            </a:pPr>
            <a:r>
              <a:t>AI EMERGENCY EVACUATION ROUTE PLANNER</a:t>
            </a:r>
          </a:p>
        </p:txBody>
      </p:sp>
      <p:sp>
        <p:nvSpPr>
          <p:cNvPr id="5" name="TextBox 4"/>
          <p:cNvSpPr txBox="1"/>
          <p:nvPr/>
        </p:nvSpPr>
        <p:spPr>
          <a:xfrm>
            <a:off x="731520" y="329184"/>
            <a:ext cx="9144000" cy="594360"/>
          </a:xfrm>
          <a:prstGeom prst="rect">
            <a:avLst/>
          </a:prstGeom>
          <a:noFill/>
        </p:spPr>
        <p:txBody>
          <a:bodyPr wrap="square">
            <a:spAutoFit/>
          </a:bodyPr>
          <a:lstStyle/>
          <a:p>
            <a:pPr>
              <a:defRPr sz="2400" b="1">
                <a:solidFill>
                  <a:srgbClr val="FFFFFF"/>
                </a:solidFill>
                <a:latin typeface="Calibri"/>
              </a:defRPr>
            </a:pPr>
            <a:r>
              <a:t>Conclusion &amp; Project Summary</a:t>
            </a:r>
          </a:p>
        </p:txBody>
      </p:sp>
      <p:sp>
        <p:nvSpPr>
          <p:cNvPr id="6" name="Rounded Rectangle 5"/>
          <p:cNvSpPr/>
          <p:nvPr/>
        </p:nvSpPr>
        <p:spPr>
          <a:xfrm>
            <a:off x="10972800" y="320040"/>
            <a:ext cx="640080" cy="365760"/>
          </a:xfrm>
          <a:prstGeom prst="roundRect">
            <a:avLst/>
          </a:prstGeom>
          <a:solidFill>
            <a:srgbClr val="318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12</a:t>
            </a:r>
          </a:p>
        </p:txBody>
      </p:sp>
      <p:sp>
        <p:nvSpPr>
          <p:cNvPr id="7" name="Rectangle 6"/>
          <p:cNvSpPr/>
          <p:nvPr/>
        </p:nvSpPr>
        <p:spPr>
          <a:xfrm>
            <a:off x="731520" y="649224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537960"/>
            <a:ext cx="10728655" cy="274320"/>
          </a:xfrm>
          <a:prstGeom prst="rect">
            <a:avLst/>
          </a:prstGeom>
          <a:noFill/>
        </p:spPr>
        <p:txBody>
          <a:bodyPr wrap="none">
            <a:spAutoFit/>
          </a:bodyPr>
          <a:lstStyle/>
          <a:p>
            <a:pPr>
              <a:defRPr sz="900">
                <a:solidFill>
                  <a:srgbClr val="718096"/>
                </a:solidFill>
                <a:latin typeface="Calibri"/>
              </a:defRPr>
            </a:pPr>
            <a:r>
              <a:t>AI-Based Emergency Evacuation Route Planner  |  Computer Science &amp; Engineering  |  Academic Project</a:t>
            </a:r>
          </a:p>
        </p:txBody>
      </p:sp>
      <p:sp>
        <p:nvSpPr>
          <p:cNvPr id="9" name="Rounded Rectangle 8"/>
          <p:cNvSpPr/>
          <p:nvPr/>
        </p:nvSpPr>
        <p:spPr>
          <a:xfrm>
            <a:off x="731520" y="1417320"/>
            <a:ext cx="6217920" cy="4114800"/>
          </a:xfrm>
          <a:prstGeom prst="roundRect">
            <a:avLst/>
          </a:prstGeom>
          <a:solidFill>
            <a:srgbClr val="F7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5852160" cy="3749039"/>
          </a:xfrm>
          <a:prstGeom prst="rect">
            <a:avLst/>
          </a:prstGeom>
          <a:noFill/>
        </p:spPr>
        <p:txBody>
          <a:bodyPr wrap="square">
            <a:spAutoFit/>
          </a:bodyPr>
          <a:lstStyle/>
          <a:p>
            <a:pPr>
              <a:defRPr sz="1600" b="1">
                <a:solidFill>
                  <a:srgbClr val="1A365D"/>
                </a:solidFill>
                <a:latin typeface="Calibri"/>
              </a:defRPr>
            </a:pPr>
            <a:r>
              <a:t>🎓 Key Takeaways &amp; Contributions</a:t>
            </a:r>
          </a:p>
          <a:p>
            <a:pPr>
              <a:defRPr sz="1150" b="1">
                <a:solidFill>
                  <a:srgbClr val="3182CE"/>
                </a:solidFill>
                <a:latin typeface="Calibri"/>
              </a:defRPr>
            </a:pPr>
            <a:r>
              <a:t>• AI Search Saves Travel Distance:</a:t>
            </a:r>
          </a:p>
          <a:p>
            <a:pPr>
              <a:defRPr sz="1050">
                <a:solidFill>
                  <a:srgbClr val="2D3748"/>
                </a:solidFill>
                <a:latin typeface="Calibri"/>
              </a:defRPr>
            </a:pPr>
            <a:r>
              <a:t>   Cost-sensitive search (UCS/A*) identified the true 13-unit path, outperforming hop-based BFS (15 units).</a:t>
            </a:r>
          </a:p>
          <a:p>
            <a:pPr>
              <a:defRPr sz="1150" b="1">
                <a:solidFill>
                  <a:srgbClr val="3182CE"/>
                </a:solidFill>
                <a:latin typeface="Calibri"/>
              </a:defRPr>
            </a:pPr>
            <a:r>
              <a:t>• Dynamic Resilience:</a:t>
            </a:r>
          </a:p>
          <a:p>
            <a:pPr>
              <a:defRPr sz="1050">
                <a:solidFill>
                  <a:srgbClr val="2D3748"/>
                </a:solidFill>
                <a:latin typeface="Calibri"/>
              </a:defRPr>
            </a:pPr>
            <a:r>
              <a:t>   Non-destructive graph cloning and bidirectional edge deletion enable instant recalculation of optimal detours.</a:t>
            </a:r>
          </a:p>
          <a:p>
            <a:pPr>
              <a:defRPr sz="1150" b="1">
                <a:solidFill>
                  <a:srgbClr val="3182CE"/>
                </a:solidFill>
                <a:latin typeface="Calibri"/>
              </a:defRPr>
            </a:pPr>
            <a:r>
              <a:t>• Fail-Safe Design:</a:t>
            </a:r>
          </a:p>
          <a:p>
            <a:pPr>
              <a:defRPr sz="1050">
                <a:solidFill>
                  <a:srgbClr val="2D3748"/>
                </a:solidFill>
                <a:latin typeface="Calibri"/>
              </a:defRPr>
            </a:pPr>
            <a:r>
              <a:t>   Network partition detection provides clear shelter-in-place warnings when destinations are unreachable.</a:t>
            </a:r>
          </a:p>
          <a:p>
            <a:pPr>
              <a:defRPr sz="1150" b="1">
                <a:solidFill>
                  <a:srgbClr val="3182CE"/>
                </a:solidFill>
                <a:latin typeface="Calibri"/>
              </a:defRPr>
            </a:pPr>
            <a:r>
              <a:t>• Accessible Web Interface:</a:t>
            </a:r>
          </a:p>
          <a:p>
            <a:pPr>
              <a:defRPr sz="1050">
                <a:solidFill>
                  <a:srgbClr val="2D3748"/>
                </a:solidFill>
                <a:latin typeface="Calibri"/>
              </a:defRPr>
            </a:pPr>
            <a:r>
              <a:t>   Streamlit and Folium provide interactive disaster visualization without requiring proprietary API keys.</a:t>
            </a:r>
          </a:p>
        </p:txBody>
      </p:sp>
      <p:sp>
        <p:nvSpPr>
          <p:cNvPr id="11" name="Rounded Rectangle 10"/>
          <p:cNvSpPr/>
          <p:nvPr/>
        </p:nvSpPr>
        <p:spPr>
          <a:xfrm>
            <a:off x="7223760" y="1417320"/>
            <a:ext cx="4236415" cy="4114800"/>
          </a:xfrm>
          <a:prstGeom prst="roundRect">
            <a:avLst/>
          </a:prstGeom>
          <a:solidFill>
            <a:srgbClr val="1A365D"/>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06640" y="2011680"/>
            <a:ext cx="3870655" cy="2926080"/>
          </a:xfrm>
          <a:prstGeom prst="rect">
            <a:avLst/>
          </a:prstGeom>
          <a:noFill/>
        </p:spPr>
        <p:txBody>
          <a:bodyPr wrap="square">
            <a:spAutoFit/>
          </a:bodyPr>
          <a:lstStyle/>
          <a:p>
            <a:pPr algn="ctr">
              <a:defRPr sz="2800" b="1">
                <a:solidFill>
                  <a:srgbClr val="FFFFFF"/>
                </a:solidFill>
                <a:latin typeface="Calibri"/>
              </a:defRPr>
            </a:pPr>
            <a:r>
              <a:t>Thank You!</a:t>
            </a:r>
          </a:p>
          <a:p>
            <a:pPr algn="ctr">
              <a:defRPr sz="1300">
                <a:solidFill>
                  <a:srgbClr val="E2E8F0"/>
                </a:solidFill>
                <a:latin typeface="Calibri"/>
              </a:defRPr>
            </a:pPr>
            <a:r>
              <a:t>Open for Questions, Viva Feedback, and Live Interactive Demonstration</a:t>
            </a:r>
          </a:p>
          <a:p>
            <a:br/>
            <a:pPr algn="ctr">
              <a:defRPr sz="1200" b="1">
                <a:solidFill>
                  <a:srgbClr val="3182CE"/>
                </a:solidFill>
                <a:latin typeface="Calibri"/>
              </a:defRPr>
            </a:pPr>
            <a:r>
              <a:t>Dashboard Live at:</a:t>
            </a:r>
            <a:br/>
            <a:r>
              <a:t>http://localhost:8501</a:t>
            </a:r>
          </a:p>
        </p:txBody>
      </p:sp>
      <p:sp>
        <p:nvSpPr>
          <p:cNvPr id="13" name="Rounded Rectangle 12"/>
          <p:cNvSpPr/>
          <p:nvPr/>
        </p:nvSpPr>
        <p:spPr>
          <a:xfrm>
            <a:off x="731520" y="5715000"/>
            <a:ext cx="10728655" cy="594360"/>
          </a:xfrm>
          <a:prstGeom prst="roundRect">
            <a:avLst/>
          </a:prstGeom>
          <a:solidFill>
            <a:srgbClr val="FEF3C7"/>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760720"/>
            <a:ext cx="10362895" cy="502920"/>
          </a:xfrm>
          <a:prstGeom prst="rect">
            <a:avLst/>
          </a:prstGeom>
          <a:noFill/>
        </p:spPr>
        <p:txBody>
          <a:bodyPr wrap="none">
            <a:spAutoFit/>
          </a:bodyPr>
          <a:lstStyle/>
          <a:p>
            <a:pPr>
              <a:defRPr sz="950" i="1">
                <a:solidFill>
                  <a:srgbClr val="92400E"/>
                </a:solidFill>
                <a:latin typeface="Calibri"/>
              </a:defRPr>
            </a:pPr>
            <a:r>
              <a:t>⚠️ Notice: This academic project is an educational demonstration prototype. It does not provide certified emergency management guidance or real-world navigation directives.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